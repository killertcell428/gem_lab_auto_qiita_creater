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0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51343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18" Type="http://schemas.openxmlformats.org/officeDocument/2006/relationships/image" Target="../media/image3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17" Type="http://schemas.openxmlformats.org/officeDocument/2006/relationships/image" Target="../media/image34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3.png"/><Relationship Id="rId20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5" Type="http://schemas.openxmlformats.org/officeDocument/2006/relationships/image" Target="../media/image32.png"/><Relationship Id="rId10" Type="http://schemas.openxmlformats.org/officeDocument/2006/relationships/image" Target="../media/image27.png"/><Relationship Id="rId19" Type="http://schemas.openxmlformats.org/officeDocument/2006/relationships/image" Target="../media/image36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48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12" Type="http://schemas.openxmlformats.org/officeDocument/2006/relationships/image" Target="../media/image47.png"/><Relationship Id="rId17" Type="http://schemas.openxmlformats.org/officeDocument/2006/relationships/image" Target="../media/image52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5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11" Type="http://schemas.openxmlformats.org/officeDocument/2006/relationships/image" Target="../media/image46.png"/><Relationship Id="rId5" Type="http://schemas.openxmlformats.org/officeDocument/2006/relationships/image" Target="../media/image40.png"/><Relationship Id="rId15" Type="http://schemas.openxmlformats.org/officeDocument/2006/relationships/image" Target="../media/image50.png"/><Relationship Id="rId10" Type="http://schemas.openxmlformats.org/officeDocument/2006/relationships/image" Target="../media/image45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Relationship Id="rId14" Type="http://schemas.openxmlformats.org/officeDocument/2006/relationships/image" Target="../media/image4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13" Type="http://schemas.openxmlformats.org/officeDocument/2006/relationships/image" Target="../media/image63.pn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12" Type="http://schemas.openxmlformats.org/officeDocument/2006/relationships/image" Target="../media/image6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11" Type="http://schemas.openxmlformats.org/officeDocument/2006/relationships/image" Target="../media/image61.png"/><Relationship Id="rId5" Type="http://schemas.openxmlformats.org/officeDocument/2006/relationships/image" Target="../media/image55.png"/><Relationship Id="rId10" Type="http://schemas.openxmlformats.org/officeDocument/2006/relationships/image" Target="../media/image60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Relationship Id="rId14" Type="http://schemas.openxmlformats.org/officeDocument/2006/relationships/image" Target="../media/image6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8000"/>
          </a:blip>
          <a:srcRect l="-3" r="-3"/>
          <a:stretch/>
        </p:blipFill>
        <p:spPr>
          <a:xfrm>
            <a:off x="2523744" y="571500"/>
            <a:ext cx="7144207" cy="5715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Shape 3"/>
          <p:cNvSpPr/>
          <p:nvPr/>
        </p:nvSpPr>
        <p:spPr>
          <a:xfrm>
            <a:off x="0" y="0"/>
            <a:ext cx="6096305" cy="75895"/>
          </a:xfrm>
          <a:prstGeom prst="rect">
            <a:avLst/>
          </a:prstGeom>
          <a:solidFill>
            <a:srgbClr val="D32F2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Shape 4"/>
          <p:cNvSpPr/>
          <p:nvPr/>
        </p:nvSpPr>
        <p:spPr>
          <a:xfrm>
            <a:off x="6096305" y="0"/>
            <a:ext cx="6096305" cy="75895"/>
          </a:xfrm>
          <a:prstGeom prst="rect">
            <a:avLst/>
          </a:prstGeom>
          <a:solidFill>
            <a:srgbClr val="388E3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6"/>
          <p:cNvSpPr/>
          <p:nvPr/>
        </p:nvSpPr>
        <p:spPr>
          <a:xfrm>
            <a:off x="571500" y="1714500"/>
            <a:ext cx="2085746" cy="780898"/>
          </a:xfrm>
          <a:prstGeom prst="roundRect">
            <a:avLst>
              <a:gd name="adj" fmla="val 17136"/>
            </a:avLst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blurRad="1016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7"/>
          <p:cNvSpPr/>
          <p:nvPr/>
        </p:nvSpPr>
        <p:spPr>
          <a:xfrm>
            <a:off x="809244" y="1876349"/>
            <a:ext cx="457200" cy="457200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23544" y="1990649"/>
            <a:ext cx="228600" cy="2286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80744" y="1979676"/>
            <a:ext cx="1164031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55A6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RNA-seq解析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761695" y="4362602"/>
            <a:ext cx="1752905" cy="780898"/>
          </a:xfrm>
          <a:prstGeom prst="roundRect">
            <a:avLst>
              <a:gd name="adj" fmla="val 17136"/>
            </a:avLst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blurRad="1016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0"/>
          <p:cNvSpPr/>
          <p:nvPr/>
        </p:nvSpPr>
        <p:spPr>
          <a:xfrm>
            <a:off x="1000354" y="4524451"/>
            <a:ext cx="457200" cy="457200"/>
          </a:xfrm>
          <a:prstGeom prst="ellipse">
            <a:avLst/>
          </a:prstGeom>
          <a:solidFill>
            <a:srgbClr val="FFEBEE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rcRect l="-57" r="-57"/>
          <a:stretch/>
        </p:blipFill>
        <p:spPr>
          <a:xfrm>
            <a:off x="1128370" y="4638751"/>
            <a:ext cx="200254" cy="2286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571854" y="4552798"/>
            <a:ext cx="83119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55A6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14遺伝子</a:t>
            </a:r>
            <a:endParaRPr lang="en-US" sz="1300" dirty="0"/>
          </a:p>
        </p:txBody>
      </p:sp>
      <p:sp>
        <p:nvSpPr>
          <p:cNvPr id="18" name="Text 12"/>
          <p:cNvSpPr txBox="1"/>
          <p:nvPr/>
        </p:nvSpPr>
        <p:spPr>
          <a:xfrm>
            <a:off x="1633118" y="4800600"/>
            <a:ext cx="6675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Key Genes</a:t>
            </a:r>
            <a:endParaRPr lang="en-US" sz="900" dirty="0"/>
          </a:p>
        </p:txBody>
      </p:sp>
      <p:sp>
        <p:nvSpPr>
          <p:cNvPr id="19" name="Shape 13"/>
          <p:cNvSpPr/>
          <p:nvPr/>
        </p:nvSpPr>
        <p:spPr>
          <a:xfrm>
            <a:off x="9688982" y="1714500"/>
            <a:ext cx="1933956" cy="780898"/>
          </a:xfrm>
          <a:prstGeom prst="roundRect">
            <a:avLst>
              <a:gd name="adj" fmla="val 17136"/>
            </a:avLst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blurRad="1016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4"/>
          <p:cNvSpPr/>
          <p:nvPr/>
        </p:nvSpPr>
        <p:spPr>
          <a:xfrm>
            <a:off x="9926726" y="1876349"/>
            <a:ext cx="457200" cy="457200"/>
          </a:xfrm>
          <a:prstGeom prst="ellipse">
            <a:avLst/>
          </a:prstGeom>
          <a:solidFill>
            <a:srgbClr val="F5F3FF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041026" y="1990649"/>
            <a:ext cx="228600" cy="2286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0554005" y="1902866"/>
            <a:ext cx="9070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55A6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polyester</a:t>
            </a:r>
            <a:endParaRPr lang="en-US" sz="1300" dirty="0"/>
          </a:p>
        </p:txBody>
      </p:sp>
      <p:sp>
        <p:nvSpPr>
          <p:cNvPr id="23" name="Text 16"/>
          <p:cNvSpPr txBox="1"/>
          <p:nvPr/>
        </p:nvSpPr>
        <p:spPr>
          <a:xfrm>
            <a:off x="10498226" y="2145182"/>
            <a:ext cx="9720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Simulation Tool</a:t>
            </a:r>
            <a:endParaRPr lang="en-US" sz="900" dirty="0"/>
          </a:p>
        </p:txBody>
      </p:sp>
      <p:sp>
        <p:nvSpPr>
          <p:cNvPr id="24" name="Shape 17"/>
          <p:cNvSpPr/>
          <p:nvPr/>
        </p:nvSpPr>
        <p:spPr>
          <a:xfrm>
            <a:off x="9223553" y="4362602"/>
            <a:ext cx="2210105" cy="780898"/>
          </a:xfrm>
          <a:prstGeom prst="roundRect">
            <a:avLst>
              <a:gd name="adj" fmla="val 17136"/>
            </a:avLst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blurRad="1016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18"/>
          <p:cNvSpPr/>
          <p:nvPr/>
        </p:nvSpPr>
        <p:spPr>
          <a:xfrm>
            <a:off x="9462211" y="4524451"/>
            <a:ext cx="457200" cy="457200"/>
          </a:xfrm>
          <a:prstGeom prst="ellipse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576511" y="4638751"/>
            <a:ext cx="228600" cy="22860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10180930" y="4552798"/>
            <a:ext cx="99303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55A6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19サンプル</a:t>
            </a:r>
            <a:endParaRPr lang="en-US" sz="1300" dirty="0"/>
          </a:p>
        </p:txBody>
      </p:sp>
      <p:sp>
        <p:nvSpPr>
          <p:cNvPr id="28" name="Text 20"/>
          <p:cNvSpPr txBox="1"/>
          <p:nvPr/>
        </p:nvSpPr>
        <p:spPr>
          <a:xfrm>
            <a:off x="10033711" y="4800600"/>
            <a:ext cx="12481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Experimental Design</a:t>
            </a:r>
            <a:endParaRPr lang="en-US" sz="900" dirty="0"/>
          </a:p>
        </p:txBody>
      </p:sp>
      <p:sp>
        <p:nvSpPr>
          <p:cNvPr id="31" name="Shape 23"/>
          <p:cNvSpPr/>
          <p:nvPr/>
        </p:nvSpPr>
        <p:spPr>
          <a:xfrm>
            <a:off x="5659222" y="1865376"/>
            <a:ext cx="875995" cy="390449"/>
          </a:xfrm>
          <a:prstGeom prst="roundRect">
            <a:avLst>
              <a:gd name="adj" fmla="val 22848"/>
            </a:avLst>
          </a:prstGeom>
          <a:solidFill>
            <a:srgbClr val="26323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2" name="Text 24"/>
          <p:cNvSpPr txBox="1"/>
          <p:nvPr/>
        </p:nvSpPr>
        <p:spPr>
          <a:xfrm>
            <a:off x="5811012" y="1922069"/>
            <a:ext cx="70866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VOL.4</a:t>
            </a:r>
            <a:endParaRPr lang="en-US" sz="1400" dirty="0"/>
          </a:p>
        </p:txBody>
      </p:sp>
      <p:sp>
        <p:nvSpPr>
          <p:cNvPr id="33" name="Text 25"/>
          <p:cNvSpPr txBox="1"/>
          <p:nvPr/>
        </p:nvSpPr>
        <p:spPr>
          <a:xfrm>
            <a:off x="1429207" y="2415845"/>
            <a:ext cx="9734702" cy="1420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26323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14遺伝子の物語：仮想のRNA-seqデータを生み出す</a:t>
            </a:r>
            <a:endParaRPr lang="en-US" sz="4200" dirty="0"/>
          </a:p>
        </p:txBody>
      </p:sp>
      <p:sp>
        <p:nvSpPr>
          <p:cNvPr id="34" name="Text 26"/>
          <p:cNvSpPr txBox="1"/>
          <p:nvPr/>
        </p:nvSpPr>
        <p:spPr>
          <a:xfrm>
            <a:off x="2675534" y="3924605"/>
            <a:ext cx="7054596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546E7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モンスターの遺伝子発現データをシミュレーションする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304495" y="1104595"/>
            <a:ext cx="11582705" cy="19202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 txBox="1"/>
          <p:nvPr/>
        </p:nvSpPr>
        <p:spPr>
          <a:xfrm>
            <a:off x="304495" y="267005"/>
            <a:ext cx="588233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図1 仮想実験の物語：データが生まれるまで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304495" y="694944"/>
            <a:ext cx="47585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想像上の生き物から、どうやって分析用のデータを作るの？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941918" y="457200"/>
            <a:ext cx="2952598" cy="342900"/>
          </a:xfrm>
          <a:prstGeom prst="roundRect">
            <a:avLst>
              <a:gd name="adj" fmla="val 266667"/>
            </a:avLst>
          </a:prstGeom>
          <a:solidFill>
            <a:srgbClr val="F9FAF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9094622" y="571500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D32F2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9284818" y="533095"/>
            <a:ext cx="11576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6323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オス (リオレウス)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0490911" y="571500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388E3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 txBox="1"/>
          <p:nvPr/>
        </p:nvSpPr>
        <p:spPr>
          <a:xfrm>
            <a:off x="10681106" y="533095"/>
            <a:ext cx="11576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6323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メス (リオレイア)</a:t>
            </a:r>
            <a:endParaRPr lang="en-US" sz="10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24982" y="2338121"/>
            <a:ext cx="142646" cy="190195"/>
          </a:xfrm>
          <a:prstGeom prst="rect">
            <a:avLst/>
          </a:prstGeom>
        </p:spPr>
      </p:pic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24982" y="3709721"/>
            <a:ext cx="142646" cy="190195"/>
          </a:xfrm>
          <a:prstGeom prst="rect">
            <a:avLst/>
          </a:prstGeom>
        </p:spPr>
      </p:pic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24982" y="5309921"/>
            <a:ext cx="142646" cy="190195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4155948" y="1657807"/>
            <a:ext cx="19202" cy="4591202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1"/>
          <p:cNvSpPr/>
          <p:nvPr/>
        </p:nvSpPr>
        <p:spPr>
          <a:xfrm>
            <a:off x="914400" y="1352398"/>
            <a:ext cx="10362895" cy="800100"/>
          </a:xfrm>
          <a:prstGeom prst="roundRect">
            <a:avLst>
              <a:gd name="adj" fmla="val 21769"/>
            </a:avLst>
          </a:prstGeom>
          <a:solidFill>
            <a:srgbClr val="FFFFFF"/>
          </a:solidFill>
          <a:ln w="25400">
            <a:solidFill>
              <a:srgbClr val="ECEFF1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2"/>
          <p:cNvSpPr/>
          <p:nvPr/>
        </p:nvSpPr>
        <p:spPr>
          <a:xfrm>
            <a:off x="4411066" y="1485900"/>
            <a:ext cx="9144" cy="533095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3"/>
          <p:cNvSpPr/>
          <p:nvPr/>
        </p:nvSpPr>
        <p:spPr>
          <a:xfrm>
            <a:off x="1047902" y="1485900"/>
            <a:ext cx="533095" cy="533095"/>
          </a:xfrm>
          <a:prstGeom prst="roundRect">
            <a:avLst>
              <a:gd name="adj" fmla="val 171527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rcRect l="-80" r="-80"/>
          <a:stretch/>
        </p:blipFill>
        <p:spPr>
          <a:xfrm>
            <a:off x="1171346" y="1638605"/>
            <a:ext cx="286207" cy="22860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5921654" y="1752905"/>
            <a:ext cx="1248156" cy="228600"/>
          </a:xfrm>
          <a:prstGeom prst="roundRect">
            <a:avLst>
              <a:gd name="adj" fmla="val 400000"/>
            </a:avLst>
          </a:prstGeom>
          <a:solidFill>
            <a:srgbClr val="FEF2F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5"/>
          <p:cNvSpPr/>
          <p:nvPr/>
        </p:nvSpPr>
        <p:spPr>
          <a:xfrm>
            <a:off x="9177833" y="1752905"/>
            <a:ext cx="1133856" cy="228600"/>
          </a:xfrm>
          <a:prstGeom prst="roundRect">
            <a:avLst>
              <a:gd name="adj" fmla="val 400000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Text 16"/>
          <p:cNvSpPr txBox="1"/>
          <p:nvPr/>
        </p:nvSpPr>
        <p:spPr>
          <a:xfrm>
            <a:off x="1809598" y="1552651"/>
            <a:ext cx="238658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1. こんな生き物を想像しよう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1809598" y="1800454"/>
            <a:ext cx="16861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仮想のバックグラウンドを設定</a:t>
            </a:r>
            <a:endParaRPr lang="en-US" sz="90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5"/>
          <a:srcRect t="-530" b="-530"/>
          <a:stretch/>
        </p:blipFill>
        <p:spPr>
          <a:xfrm>
            <a:off x="5559552" y="1626718"/>
            <a:ext cx="247802" cy="286207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921654" y="1524305"/>
            <a:ext cx="11676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リオレウス (オス)</a:t>
            </a:r>
            <a:endParaRPr lang="en-US" sz="1000" dirty="0"/>
          </a:p>
        </p:txBody>
      </p:sp>
      <p:sp>
        <p:nvSpPr>
          <p:cNvPr id="26" name="Text 19"/>
          <p:cNvSpPr txBox="1"/>
          <p:nvPr/>
        </p:nvSpPr>
        <p:spPr>
          <a:xfrm>
            <a:off x="5998464" y="1781251"/>
            <a:ext cx="11814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特徴: 大きな翼を持つ</a:t>
            </a:r>
            <a:endParaRPr lang="en-US" sz="90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6"/>
          <a:srcRect l="-1118" r="-1118"/>
          <a:stretch/>
        </p:blipFill>
        <p:spPr>
          <a:xfrm>
            <a:off x="8844077" y="1626718"/>
            <a:ext cx="219456" cy="286207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9177833" y="1524305"/>
            <a:ext cx="11676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リオレイア (メス)</a:t>
            </a:r>
            <a:endParaRPr lang="en-US" sz="1000" dirty="0"/>
          </a:p>
        </p:txBody>
      </p:sp>
      <p:sp>
        <p:nvSpPr>
          <p:cNvPr id="29" name="Text 21"/>
          <p:cNvSpPr txBox="1"/>
          <p:nvPr/>
        </p:nvSpPr>
        <p:spPr>
          <a:xfrm>
            <a:off x="9253728" y="1781251"/>
            <a:ext cx="10671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特徴: 強い毒を持つ</a:t>
            </a:r>
            <a:endParaRPr lang="en-US" sz="900" dirty="0"/>
          </a:p>
        </p:txBody>
      </p:sp>
      <p:sp>
        <p:nvSpPr>
          <p:cNvPr id="30" name="Shape 22"/>
          <p:cNvSpPr/>
          <p:nvPr/>
        </p:nvSpPr>
        <p:spPr>
          <a:xfrm>
            <a:off x="914400" y="2704795"/>
            <a:ext cx="10362895" cy="819302"/>
          </a:xfrm>
          <a:prstGeom prst="roundRect">
            <a:avLst>
              <a:gd name="adj" fmla="val 20764"/>
            </a:avLst>
          </a:prstGeom>
          <a:solidFill>
            <a:srgbClr val="FFFFFF"/>
          </a:solidFill>
          <a:ln w="25400">
            <a:solidFill>
              <a:srgbClr val="ECEFF1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1" name="Shape 23"/>
          <p:cNvSpPr/>
          <p:nvPr/>
        </p:nvSpPr>
        <p:spPr>
          <a:xfrm>
            <a:off x="4411066" y="2848356"/>
            <a:ext cx="9144" cy="533095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2" name="Shape 24"/>
          <p:cNvSpPr/>
          <p:nvPr/>
        </p:nvSpPr>
        <p:spPr>
          <a:xfrm>
            <a:off x="1047902" y="2848356"/>
            <a:ext cx="533095" cy="533095"/>
          </a:xfrm>
          <a:prstGeom prst="roundRect">
            <a:avLst>
              <a:gd name="adj" fmla="val 171527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200607" y="3000146"/>
            <a:ext cx="228600" cy="228600"/>
          </a:xfrm>
          <a:prstGeom prst="rect">
            <a:avLst/>
          </a:prstGeom>
        </p:spPr>
      </p:pic>
      <p:sp>
        <p:nvSpPr>
          <p:cNvPr id="34" name="Shape 25"/>
          <p:cNvSpPr/>
          <p:nvPr/>
        </p:nvSpPr>
        <p:spPr>
          <a:xfrm>
            <a:off x="4985309" y="2838298"/>
            <a:ext cx="2686507" cy="552298"/>
          </a:xfrm>
          <a:prstGeom prst="roundRect">
            <a:avLst>
              <a:gd name="adj" fmla="val 22836"/>
            </a:avLst>
          </a:prstGeom>
          <a:solidFill>
            <a:srgbClr val="FEF2F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8"/>
          <a:srcRect t="-100" b="-100"/>
          <a:stretch/>
        </p:blipFill>
        <p:spPr>
          <a:xfrm>
            <a:off x="6038698" y="3133649"/>
            <a:ext cx="114300" cy="152705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8198510" y="2838298"/>
            <a:ext cx="2686507" cy="552298"/>
          </a:xfrm>
          <a:prstGeom prst="roundRect">
            <a:avLst>
              <a:gd name="adj" fmla="val 22836"/>
            </a:avLst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7" name="Image 8" descr="preencoded.png"/>
          <p:cNvPicPr>
            <a:picLocks noChangeAspect="1"/>
          </p:cNvPicPr>
          <p:nvPr/>
        </p:nvPicPr>
        <p:blipFill>
          <a:blip r:embed="rId9"/>
          <a:srcRect t="-100" b="-100"/>
          <a:stretch/>
        </p:blipFill>
        <p:spPr>
          <a:xfrm>
            <a:off x="9251899" y="3133649"/>
            <a:ext cx="114300" cy="152705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1809598" y="2915107"/>
            <a:ext cx="221467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2. 遺伝子の働きを予想する</a:t>
            </a:r>
            <a:endParaRPr lang="en-US" sz="1300" dirty="0"/>
          </a:p>
        </p:txBody>
      </p:sp>
      <p:sp>
        <p:nvSpPr>
          <p:cNvPr id="39" name="Text 28"/>
          <p:cNvSpPr txBox="1"/>
          <p:nvPr/>
        </p:nvSpPr>
        <p:spPr>
          <a:xfrm>
            <a:off x="1809598" y="3161995"/>
            <a:ext cx="16962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特徴に合わせてルールを決める</a:t>
            </a:r>
            <a:endParaRPr lang="en-US" sz="900" dirty="0"/>
          </a:p>
        </p:txBody>
      </p:sp>
      <p:sp>
        <p:nvSpPr>
          <p:cNvPr id="40" name="Text 29"/>
          <p:cNvSpPr txBox="1"/>
          <p:nvPr/>
        </p:nvSpPr>
        <p:spPr>
          <a:xfrm>
            <a:off x="5924398" y="2915107"/>
            <a:ext cx="8961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91B1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翼を作る遺伝子</a:t>
            </a:r>
            <a:endParaRPr lang="en-US" sz="900" dirty="0"/>
          </a:p>
        </p:txBody>
      </p:sp>
      <p:sp>
        <p:nvSpPr>
          <p:cNvPr id="41" name="Text 30"/>
          <p:cNvSpPr txBox="1"/>
          <p:nvPr/>
        </p:nvSpPr>
        <p:spPr>
          <a:xfrm>
            <a:off x="5619902" y="3124505"/>
            <a:ext cx="4389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オスで</a:t>
            </a:r>
            <a:endParaRPr lang="en-US" sz="900" dirty="0"/>
          </a:p>
        </p:txBody>
      </p:sp>
      <p:sp>
        <p:nvSpPr>
          <p:cNvPr id="42" name="Text 31"/>
          <p:cNvSpPr txBox="1"/>
          <p:nvPr/>
        </p:nvSpPr>
        <p:spPr>
          <a:xfrm>
            <a:off x="6229807" y="3114446"/>
            <a:ext cx="9006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C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いっぱい働く</a:t>
            </a:r>
            <a:endParaRPr lang="en-US" sz="1000" dirty="0"/>
          </a:p>
        </p:txBody>
      </p:sp>
      <p:sp>
        <p:nvSpPr>
          <p:cNvPr id="43" name="Text 32"/>
          <p:cNvSpPr txBox="1"/>
          <p:nvPr/>
        </p:nvSpPr>
        <p:spPr>
          <a:xfrm>
            <a:off x="9137599" y="2915107"/>
            <a:ext cx="8961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65F4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毒を作る遺伝子</a:t>
            </a:r>
            <a:endParaRPr lang="en-US" sz="900" dirty="0"/>
          </a:p>
        </p:txBody>
      </p:sp>
      <p:sp>
        <p:nvSpPr>
          <p:cNvPr id="44" name="Text 33"/>
          <p:cNvSpPr txBox="1"/>
          <p:nvPr/>
        </p:nvSpPr>
        <p:spPr>
          <a:xfrm>
            <a:off x="8833104" y="3124505"/>
            <a:ext cx="4389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メスで</a:t>
            </a:r>
            <a:endParaRPr lang="en-US" sz="900" dirty="0"/>
          </a:p>
        </p:txBody>
      </p:sp>
      <p:sp>
        <p:nvSpPr>
          <p:cNvPr id="45" name="Text 34"/>
          <p:cNvSpPr txBox="1"/>
          <p:nvPr/>
        </p:nvSpPr>
        <p:spPr>
          <a:xfrm>
            <a:off x="9442094" y="3114446"/>
            <a:ext cx="9006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596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いっぱい働く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914400" y="4076395"/>
            <a:ext cx="10362895" cy="1047902"/>
          </a:xfrm>
          <a:prstGeom prst="roundRect">
            <a:avLst>
              <a:gd name="adj" fmla="val 12692"/>
            </a:avLst>
          </a:prstGeom>
          <a:solidFill>
            <a:srgbClr val="FFFFFF"/>
          </a:solidFill>
          <a:ln w="25400">
            <a:solidFill>
              <a:srgbClr val="ECEFF1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7" name="Shape 36"/>
          <p:cNvSpPr/>
          <p:nvPr/>
        </p:nvSpPr>
        <p:spPr>
          <a:xfrm>
            <a:off x="4411066" y="4334256"/>
            <a:ext cx="9144" cy="533095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8" name="Shape 37"/>
          <p:cNvSpPr/>
          <p:nvPr/>
        </p:nvSpPr>
        <p:spPr>
          <a:xfrm>
            <a:off x="1047902" y="4334256"/>
            <a:ext cx="533095" cy="533095"/>
          </a:xfrm>
          <a:prstGeom prst="roundRect">
            <a:avLst>
              <a:gd name="adj" fmla="val 171527"/>
            </a:avLst>
          </a:prstGeom>
          <a:solidFill>
            <a:srgbClr val="E0E7FF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49" name="Image 9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200607" y="4486046"/>
            <a:ext cx="228600" cy="228600"/>
          </a:xfrm>
          <a:prstGeom prst="rect">
            <a:avLst/>
          </a:prstGeom>
        </p:spPr>
      </p:pic>
      <p:pic>
        <p:nvPicPr>
          <p:cNvPr id="50" name="Image 10" descr="preencoded.png"/>
          <p:cNvPicPr>
            <a:picLocks noChangeAspect="1"/>
          </p:cNvPicPr>
          <p:nvPr/>
        </p:nvPicPr>
        <p:blipFill>
          <a:blip r:embed="rId11"/>
          <a:srcRect t="-180" b="-180"/>
          <a:stretch/>
        </p:blipFill>
        <p:spPr>
          <a:xfrm>
            <a:off x="6988759" y="4524451"/>
            <a:ext cx="95098" cy="152705"/>
          </a:xfrm>
          <a:prstGeom prst="rect">
            <a:avLst/>
          </a:prstGeom>
        </p:spPr>
      </p:pic>
      <p:sp>
        <p:nvSpPr>
          <p:cNvPr id="51" name="Shape 38"/>
          <p:cNvSpPr/>
          <p:nvPr/>
        </p:nvSpPr>
        <p:spPr>
          <a:xfrm>
            <a:off x="7312457" y="4209898"/>
            <a:ext cx="1552651" cy="780898"/>
          </a:xfrm>
          <a:prstGeom prst="roundRect">
            <a:avLst>
              <a:gd name="adj" fmla="val 11424"/>
            </a:avLst>
          </a:prstGeom>
          <a:solidFill>
            <a:srgbClr val="EEF2FF"/>
          </a:solidFill>
          <a:ln w="1270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52" name="Image 11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7964424" y="4295851"/>
            <a:ext cx="237744" cy="190195"/>
          </a:xfrm>
          <a:prstGeom prst="rect">
            <a:avLst/>
          </a:prstGeom>
        </p:spPr>
      </p:pic>
      <p:pic>
        <p:nvPicPr>
          <p:cNvPr id="53" name="Image 12" descr="preencoded.png"/>
          <p:cNvPicPr>
            <a:picLocks noChangeAspect="1"/>
          </p:cNvPicPr>
          <p:nvPr/>
        </p:nvPicPr>
        <p:blipFill>
          <a:blip r:embed="rId11"/>
          <a:srcRect t="-180" b="-180"/>
          <a:stretch/>
        </p:blipFill>
        <p:spPr>
          <a:xfrm>
            <a:off x="9084564" y="4524451"/>
            <a:ext cx="95098" cy="152705"/>
          </a:xfrm>
          <a:prstGeom prst="rect">
            <a:avLst/>
          </a:prstGeom>
        </p:spPr>
      </p:pic>
      <p:sp>
        <p:nvSpPr>
          <p:cNvPr id="54" name="Text 39"/>
          <p:cNvSpPr txBox="1"/>
          <p:nvPr/>
        </p:nvSpPr>
        <p:spPr>
          <a:xfrm>
            <a:off x="1809598" y="4401007"/>
            <a:ext cx="238658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3. 魔法のツールでデータ生成</a:t>
            </a:r>
            <a:endParaRPr lang="en-US" sz="1300" dirty="0"/>
          </a:p>
        </p:txBody>
      </p:sp>
      <p:sp>
        <p:nvSpPr>
          <p:cNvPr id="55" name="Text 40"/>
          <p:cNvSpPr txBox="1"/>
          <p:nvPr/>
        </p:nvSpPr>
        <p:spPr>
          <a:xfrm>
            <a:off x="1809598" y="4647895"/>
            <a:ext cx="18864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ツール名: polyester (ポリエステル)</a:t>
            </a:r>
            <a:endParaRPr lang="en-US" sz="900" dirty="0"/>
          </a:p>
        </p:txBody>
      </p:sp>
      <p:pic>
        <p:nvPicPr>
          <p:cNvPr id="56" name="Image 13" descr="preencoded.png"/>
          <p:cNvPicPr>
            <a:picLocks noChangeAspect="1"/>
          </p:cNvPicPr>
          <p:nvPr/>
        </p:nvPicPr>
        <p:blipFill>
          <a:blip r:embed="rId13"/>
          <a:srcRect l="-133" r="-133"/>
          <a:stretch/>
        </p:blipFill>
        <p:spPr>
          <a:xfrm>
            <a:off x="6235294" y="4304995"/>
            <a:ext cx="171907" cy="228600"/>
          </a:xfrm>
          <a:prstGeom prst="rect">
            <a:avLst/>
          </a:prstGeom>
        </p:spPr>
      </p:pic>
      <p:sp>
        <p:nvSpPr>
          <p:cNvPr id="57" name="Text 41"/>
          <p:cNvSpPr txBox="1"/>
          <p:nvPr/>
        </p:nvSpPr>
        <p:spPr>
          <a:xfrm>
            <a:off x="6149340" y="4581144"/>
            <a:ext cx="4389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設計図</a:t>
            </a:r>
            <a:endParaRPr lang="en-US" sz="900" dirty="0"/>
          </a:p>
        </p:txBody>
      </p:sp>
      <p:sp>
        <p:nvSpPr>
          <p:cNvPr id="58" name="Text 42"/>
          <p:cNvSpPr txBox="1"/>
          <p:nvPr/>
        </p:nvSpPr>
        <p:spPr>
          <a:xfrm>
            <a:off x="5882335" y="4733849"/>
            <a:ext cx="9720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(予想したルール)</a:t>
            </a:r>
            <a:endParaRPr lang="en-US" sz="900" dirty="0"/>
          </a:p>
        </p:txBody>
      </p:sp>
      <p:sp>
        <p:nvSpPr>
          <p:cNvPr id="59" name="Text 43"/>
          <p:cNvSpPr txBox="1"/>
          <p:nvPr/>
        </p:nvSpPr>
        <p:spPr>
          <a:xfrm>
            <a:off x="7820863" y="4515307"/>
            <a:ext cx="6199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338C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polyester</a:t>
            </a:r>
            <a:endParaRPr lang="en-US" sz="900" dirty="0"/>
          </a:p>
        </p:txBody>
      </p:sp>
      <p:sp>
        <p:nvSpPr>
          <p:cNvPr id="60" name="Text 44"/>
          <p:cNvSpPr txBox="1"/>
          <p:nvPr/>
        </p:nvSpPr>
        <p:spPr>
          <a:xfrm>
            <a:off x="7474306" y="4677156"/>
            <a:ext cx="1343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366F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自動生成ロボット</a:t>
            </a:r>
            <a:endParaRPr lang="en-US" sz="1200" dirty="0"/>
          </a:p>
        </p:txBody>
      </p:sp>
      <p:pic>
        <p:nvPicPr>
          <p:cNvPr id="61" name="Image 14" descr="preencoded.png"/>
          <p:cNvPicPr>
            <a:picLocks noChangeAspect="1"/>
          </p:cNvPicPr>
          <p:nvPr/>
        </p:nvPicPr>
        <p:blipFill>
          <a:blip r:embed="rId14"/>
          <a:srcRect l="-57" r="-57"/>
          <a:stretch/>
        </p:blipFill>
        <p:spPr>
          <a:xfrm>
            <a:off x="9593885" y="4381805"/>
            <a:ext cx="200254" cy="228600"/>
          </a:xfrm>
          <a:prstGeom prst="rect">
            <a:avLst/>
          </a:prstGeom>
        </p:spPr>
      </p:pic>
      <p:sp>
        <p:nvSpPr>
          <p:cNvPr id="62" name="Text 45"/>
          <p:cNvSpPr txBox="1"/>
          <p:nvPr/>
        </p:nvSpPr>
        <p:spPr>
          <a:xfrm>
            <a:off x="9408262" y="4657954"/>
            <a:ext cx="6675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実験データ</a:t>
            </a:r>
            <a:endParaRPr lang="en-US" sz="900" dirty="0"/>
          </a:p>
        </p:txBody>
      </p:sp>
      <p:sp>
        <p:nvSpPr>
          <p:cNvPr id="63" name="Shape 46"/>
          <p:cNvSpPr/>
          <p:nvPr/>
        </p:nvSpPr>
        <p:spPr>
          <a:xfrm>
            <a:off x="914400" y="5676595"/>
            <a:ext cx="10362895" cy="800100"/>
          </a:xfrm>
          <a:prstGeom prst="roundRect">
            <a:avLst>
              <a:gd name="adj" fmla="val 21769"/>
            </a:avLst>
          </a:prstGeom>
          <a:solidFill>
            <a:srgbClr val="F9FAFB"/>
          </a:solidFill>
          <a:ln w="25400">
            <a:solidFill>
              <a:srgbClr val="ECEFF1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4" name="Shape 47"/>
          <p:cNvSpPr/>
          <p:nvPr/>
        </p:nvSpPr>
        <p:spPr>
          <a:xfrm>
            <a:off x="4411066" y="5810098"/>
            <a:ext cx="9144" cy="53309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5" name="Shape 48"/>
          <p:cNvSpPr/>
          <p:nvPr/>
        </p:nvSpPr>
        <p:spPr>
          <a:xfrm>
            <a:off x="1047902" y="5810098"/>
            <a:ext cx="533095" cy="533095"/>
          </a:xfrm>
          <a:prstGeom prst="roundRect">
            <a:avLst>
              <a:gd name="adj" fmla="val 171527"/>
            </a:avLst>
          </a:prstGeom>
          <a:solidFill>
            <a:srgbClr val="E5E7EB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66" name="Image 15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1200607" y="5962802"/>
            <a:ext cx="228600" cy="228600"/>
          </a:xfrm>
          <a:prstGeom prst="rect">
            <a:avLst/>
          </a:prstGeom>
        </p:spPr>
      </p:pic>
      <p:sp>
        <p:nvSpPr>
          <p:cNvPr id="67" name="Shape 49"/>
          <p:cNvSpPr/>
          <p:nvPr/>
        </p:nvSpPr>
        <p:spPr>
          <a:xfrm>
            <a:off x="6239866" y="5924398"/>
            <a:ext cx="9144" cy="304495"/>
          </a:xfrm>
          <a:prstGeom prst="rect">
            <a:avLst/>
          </a:prstGeom>
          <a:solidFill>
            <a:srgbClr val="D1D5D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8" name="Shape 50"/>
          <p:cNvSpPr/>
          <p:nvPr/>
        </p:nvSpPr>
        <p:spPr>
          <a:xfrm>
            <a:off x="8725205" y="5924398"/>
            <a:ext cx="9144" cy="304495"/>
          </a:xfrm>
          <a:prstGeom prst="rect">
            <a:avLst/>
          </a:prstGeom>
          <a:solidFill>
            <a:srgbClr val="D1D5D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9" name="Shape 51"/>
          <p:cNvSpPr/>
          <p:nvPr/>
        </p:nvSpPr>
        <p:spPr>
          <a:xfrm>
            <a:off x="9439351" y="5838444"/>
            <a:ext cx="1352398" cy="476402"/>
          </a:xfrm>
          <a:prstGeom prst="roundRect">
            <a:avLst>
              <a:gd name="adj" fmla="val 1535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0" name="Text 52"/>
          <p:cNvSpPr txBox="1"/>
          <p:nvPr/>
        </p:nvSpPr>
        <p:spPr>
          <a:xfrm>
            <a:off x="1809598" y="5876849"/>
            <a:ext cx="238658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4. 完成！実験データができた</a:t>
            </a:r>
            <a:endParaRPr lang="en-US" sz="1300" dirty="0"/>
          </a:p>
        </p:txBody>
      </p:sp>
      <p:sp>
        <p:nvSpPr>
          <p:cNvPr id="71" name="Text 53"/>
          <p:cNvSpPr txBox="1"/>
          <p:nvPr/>
        </p:nvSpPr>
        <p:spPr>
          <a:xfrm>
            <a:off x="1809598" y="6124651"/>
            <a:ext cx="12289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いよいよ解析スタート</a:t>
            </a:r>
            <a:endParaRPr lang="en-US" sz="900" dirty="0"/>
          </a:p>
        </p:txBody>
      </p:sp>
      <p:sp>
        <p:nvSpPr>
          <p:cNvPr id="72" name="Text 54"/>
          <p:cNvSpPr txBox="1"/>
          <p:nvPr/>
        </p:nvSpPr>
        <p:spPr>
          <a:xfrm>
            <a:off x="5134356" y="5790895"/>
            <a:ext cx="55778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19</a:t>
            </a:r>
            <a:endParaRPr lang="en-US" sz="2200" dirty="0"/>
          </a:p>
        </p:txBody>
      </p:sp>
      <p:sp>
        <p:nvSpPr>
          <p:cNvPr id="73" name="Text 55"/>
          <p:cNvSpPr txBox="1"/>
          <p:nvPr/>
        </p:nvSpPr>
        <p:spPr>
          <a:xfrm>
            <a:off x="5070348" y="6163056"/>
            <a:ext cx="5532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サンプル</a:t>
            </a:r>
            <a:endParaRPr lang="en-US" sz="900" dirty="0"/>
          </a:p>
        </p:txBody>
      </p:sp>
      <p:sp>
        <p:nvSpPr>
          <p:cNvPr id="74" name="Text 56"/>
          <p:cNvSpPr txBox="1"/>
          <p:nvPr/>
        </p:nvSpPr>
        <p:spPr>
          <a:xfrm>
            <a:off x="7129577" y="5790895"/>
            <a:ext cx="939089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F46E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3.8億</a:t>
            </a:r>
            <a:endParaRPr lang="en-US" sz="2200" dirty="0"/>
          </a:p>
        </p:txBody>
      </p:sp>
      <p:sp>
        <p:nvSpPr>
          <p:cNvPr id="75" name="Text 57"/>
          <p:cNvSpPr txBox="1"/>
          <p:nvPr/>
        </p:nvSpPr>
        <p:spPr>
          <a:xfrm>
            <a:off x="6953098" y="6163056"/>
            <a:ext cx="11622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個のデータ (READS)</a:t>
            </a:r>
            <a:endParaRPr lang="en-US" sz="900" dirty="0"/>
          </a:p>
        </p:txBody>
      </p:sp>
      <p:sp>
        <p:nvSpPr>
          <p:cNvPr id="76" name="Text 58"/>
          <p:cNvSpPr txBox="1"/>
          <p:nvPr/>
        </p:nvSpPr>
        <p:spPr>
          <a:xfrm>
            <a:off x="9861804" y="5876849"/>
            <a:ext cx="6007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Next Step</a:t>
            </a:r>
            <a:endParaRPr lang="en-US" sz="900" dirty="0"/>
          </a:p>
        </p:txBody>
      </p:sp>
      <p:pic>
        <p:nvPicPr>
          <p:cNvPr id="77" name="Image 16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9562795" y="6112764"/>
            <a:ext cx="133502" cy="133502"/>
          </a:xfrm>
          <a:prstGeom prst="rect">
            <a:avLst/>
          </a:prstGeom>
        </p:spPr>
      </p:pic>
      <p:sp>
        <p:nvSpPr>
          <p:cNvPr id="78" name="Text 59"/>
          <p:cNvSpPr txBox="1"/>
          <p:nvPr/>
        </p:nvSpPr>
        <p:spPr>
          <a:xfrm>
            <a:off x="9734702" y="6077102"/>
            <a:ext cx="10341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中身を解析する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37"/>
          <p:cNvSpPr/>
          <p:nvPr/>
        </p:nvSpPr>
        <p:spPr>
          <a:xfrm>
            <a:off x="9010498" y="5472684"/>
            <a:ext cx="1162202" cy="247802"/>
          </a:xfrm>
          <a:prstGeom prst="roundRect">
            <a:avLst>
              <a:gd name="adj" fmla="val 283849"/>
            </a:avLst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4" name="Shape 64"/>
          <p:cNvSpPr/>
          <p:nvPr/>
        </p:nvSpPr>
        <p:spPr>
          <a:xfrm>
            <a:off x="9249156" y="3992270"/>
            <a:ext cx="1276502" cy="247802"/>
          </a:xfrm>
          <a:prstGeom prst="roundRect">
            <a:avLst>
              <a:gd name="adj" fmla="val 283849"/>
            </a:avLst>
          </a:prstGeom>
          <a:solidFill>
            <a:srgbClr val="FFF8E1"/>
          </a:solidFill>
          <a:ln w="12700">
            <a:solidFill>
              <a:srgbClr val="FFE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2" name="Shape 55"/>
          <p:cNvSpPr/>
          <p:nvPr/>
        </p:nvSpPr>
        <p:spPr>
          <a:xfrm>
            <a:off x="619049" y="4005986"/>
            <a:ext cx="1399946" cy="228600"/>
          </a:xfrm>
          <a:prstGeom prst="roundRect">
            <a:avLst>
              <a:gd name="adj" fmla="val 333333"/>
            </a:avLst>
          </a:prstGeom>
          <a:solidFill>
            <a:srgbClr val="F5F3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4" name="Shape 19"/>
          <p:cNvSpPr/>
          <p:nvPr/>
        </p:nvSpPr>
        <p:spPr>
          <a:xfrm>
            <a:off x="857707" y="2320747"/>
            <a:ext cx="1162202" cy="247802"/>
          </a:xfrm>
          <a:prstGeom prst="roundRect">
            <a:avLst>
              <a:gd name="adj" fmla="val 283849"/>
            </a:avLst>
          </a:prstGeom>
          <a:solidFill>
            <a:srgbClr val="FFEBEE"/>
          </a:solidFill>
          <a:ln w="12700">
            <a:solidFill>
              <a:srgbClr val="FFCDD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175" t="10319" r="175"/>
          <a:stretch>
            <a:fillRect/>
          </a:stretch>
        </p:blipFill>
        <p:spPr>
          <a:xfrm>
            <a:off x="3715207" y="3028493"/>
            <a:ext cx="4762195" cy="2392070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04495" y="1390802"/>
            <a:ext cx="2857500" cy="1429207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04495" y="1390802"/>
            <a:ext cx="2857500" cy="1429207"/>
          </a:xfrm>
          <a:prstGeom prst="rect">
            <a:avLst/>
          </a:prstGeom>
        </p:spPr>
      </p:pic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04495" y="1390802"/>
            <a:ext cx="2857500" cy="1429207"/>
          </a:xfrm>
          <a:prstGeom prst="rect">
            <a:avLst/>
          </a:prstGeom>
        </p:spPr>
      </p:pic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04495" y="1390802"/>
            <a:ext cx="2857500" cy="1429207"/>
          </a:xfrm>
          <a:prstGeom prst="rect">
            <a:avLst/>
          </a:prstGeom>
        </p:spPr>
      </p:pic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04495" y="1390802"/>
            <a:ext cx="2857500" cy="1429207"/>
          </a:xfrm>
          <a:prstGeom prst="rect">
            <a:avLst/>
          </a:prstGeom>
        </p:spPr>
      </p:pic>
      <p:sp>
        <p:nvSpPr>
          <p:cNvPr id="11" name="Shape 2"/>
          <p:cNvSpPr/>
          <p:nvPr/>
        </p:nvSpPr>
        <p:spPr>
          <a:xfrm>
            <a:off x="304495" y="304495"/>
            <a:ext cx="11582705" cy="85770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3"/>
          <p:cNvSpPr/>
          <p:nvPr/>
        </p:nvSpPr>
        <p:spPr>
          <a:xfrm>
            <a:off x="304495" y="1143000"/>
            <a:ext cx="11582705" cy="19202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4"/>
          <p:cNvSpPr txBox="1"/>
          <p:nvPr/>
        </p:nvSpPr>
        <p:spPr>
          <a:xfrm>
            <a:off x="304495" y="304495"/>
            <a:ext cx="38724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図2 体をつくる遺伝子の地図</a:t>
            </a:r>
            <a:endParaRPr lang="en-US" sz="2200" dirty="0"/>
          </a:p>
        </p:txBody>
      </p:sp>
      <p:sp>
        <p:nvSpPr>
          <p:cNvPr id="20" name="Text 8"/>
          <p:cNvSpPr txBox="1"/>
          <p:nvPr/>
        </p:nvSpPr>
        <p:spPr>
          <a:xfrm>
            <a:off x="304495" y="733349"/>
            <a:ext cx="525322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「どの遺伝子が、体のどこで働いて、どんな特徴をつくるのか？」</a:t>
            </a:r>
            <a:endParaRPr lang="en-US" sz="1300" dirty="0"/>
          </a:p>
        </p:txBody>
      </p:sp>
      <p:sp>
        <p:nvSpPr>
          <p:cNvPr id="24" name="Shape 12"/>
          <p:cNvSpPr/>
          <p:nvPr/>
        </p:nvSpPr>
        <p:spPr>
          <a:xfrm>
            <a:off x="685800" y="1580998"/>
            <a:ext cx="2667305" cy="1447495"/>
          </a:xfrm>
          <a:prstGeom prst="roundRect">
            <a:avLst>
              <a:gd name="adj" fmla="val 4987"/>
            </a:avLst>
          </a:prstGeom>
          <a:solidFill>
            <a:srgbClr val="FFFFFF"/>
          </a:solidFill>
          <a:ln/>
          <a:effectLst>
            <a:outerShdw blurRad="1397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13"/>
          <p:cNvSpPr/>
          <p:nvPr/>
        </p:nvSpPr>
        <p:spPr>
          <a:xfrm>
            <a:off x="685800" y="1580998"/>
            <a:ext cx="57607" cy="1447495"/>
          </a:xfrm>
          <a:prstGeom prst="rect">
            <a:avLst/>
          </a:prstGeom>
          <a:solidFill>
            <a:srgbClr val="26323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14"/>
          <p:cNvSpPr/>
          <p:nvPr/>
        </p:nvSpPr>
        <p:spPr>
          <a:xfrm>
            <a:off x="857707" y="1695298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FFEBEE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27" name="Image 10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33602" y="1772107"/>
            <a:ext cx="152705" cy="152705"/>
          </a:xfrm>
          <a:prstGeom prst="rect">
            <a:avLst/>
          </a:prstGeom>
        </p:spPr>
      </p:pic>
      <p:pic>
        <p:nvPicPr>
          <p:cNvPr id="28" name="Image 11" descr="preencoded.png"/>
          <p:cNvPicPr>
            <a:picLocks noChangeAspect="1"/>
          </p:cNvPicPr>
          <p:nvPr/>
        </p:nvPicPr>
        <p:blipFill>
          <a:blip r:embed="rId9"/>
          <a:srcRect l="-133" r="-133"/>
          <a:stretch/>
        </p:blipFill>
        <p:spPr>
          <a:xfrm>
            <a:off x="961949" y="2387498"/>
            <a:ext cx="85954" cy="114300"/>
          </a:xfrm>
          <a:prstGeom prst="rect">
            <a:avLst/>
          </a:prstGeom>
        </p:spPr>
      </p:pic>
      <p:sp>
        <p:nvSpPr>
          <p:cNvPr id="29" name="Text 15"/>
          <p:cNvSpPr txBox="1"/>
          <p:nvPr/>
        </p:nvSpPr>
        <p:spPr>
          <a:xfrm>
            <a:off x="1104595" y="2358238"/>
            <a:ext cx="8961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32F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オスで強く働く</a:t>
            </a:r>
            <a:endParaRPr lang="en-US" sz="900" dirty="0"/>
          </a:p>
        </p:txBody>
      </p:sp>
      <p:sp>
        <p:nvSpPr>
          <p:cNvPr id="30" name="Shape 16"/>
          <p:cNvSpPr/>
          <p:nvPr/>
        </p:nvSpPr>
        <p:spPr>
          <a:xfrm>
            <a:off x="857707" y="2644445"/>
            <a:ext cx="2381098" cy="9144"/>
          </a:xfrm>
          <a:prstGeom prst="rect">
            <a:avLst/>
          </a:prstGeom>
          <a:solidFill>
            <a:srgbClr val="ECEFF1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31" name="Image 12" descr="preencoded.png"/>
          <p:cNvPicPr>
            <a:picLocks noChangeAspect="1"/>
          </p:cNvPicPr>
          <p:nvPr/>
        </p:nvPicPr>
        <p:blipFill>
          <a:blip r:embed="rId10"/>
          <a:srcRect t="-1100" b="-1100"/>
          <a:stretch/>
        </p:blipFill>
        <p:spPr>
          <a:xfrm>
            <a:off x="857707" y="2741371"/>
            <a:ext cx="114300" cy="133502"/>
          </a:xfrm>
          <a:prstGeom prst="rect">
            <a:avLst/>
          </a:prstGeom>
        </p:spPr>
      </p:pic>
      <p:sp>
        <p:nvSpPr>
          <p:cNvPr id="32" name="Text 17"/>
          <p:cNvSpPr txBox="1"/>
          <p:nvPr/>
        </p:nvSpPr>
        <p:spPr>
          <a:xfrm>
            <a:off x="1276502" y="1733702"/>
            <a:ext cx="8769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翼をつくる</a:t>
            </a:r>
            <a:endParaRPr lang="en-US" sz="1200" dirty="0"/>
          </a:p>
        </p:txBody>
      </p:sp>
      <p:sp>
        <p:nvSpPr>
          <p:cNvPr id="33" name="Text 18"/>
          <p:cNvSpPr txBox="1"/>
          <p:nvPr/>
        </p:nvSpPr>
        <p:spPr>
          <a:xfrm>
            <a:off x="857707" y="2076602"/>
            <a:ext cx="16367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55A6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ウィング遺伝子 (BMP系)</a:t>
            </a:r>
            <a:endParaRPr lang="en-US" sz="1000" dirty="0"/>
          </a:p>
        </p:txBody>
      </p:sp>
      <p:sp>
        <p:nvSpPr>
          <p:cNvPr id="35" name="Text 20"/>
          <p:cNvSpPr txBox="1"/>
          <p:nvPr/>
        </p:nvSpPr>
        <p:spPr>
          <a:xfrm>
            <a:off x="1047902" y="2711196"/>
            <a:ext cx="13926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46E7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翼を大きく、強くする</a:t>
            </a:r>
            <a:endParaRPr lang="en-US" sz="1000" dirty="0"/>
          </a:p>
        </p:txBody>
      </p:sp>
      <p:grpSp>
        <p:nvGrpSpPr>
          <p:cNvPr id="123" name="グループ化 122">
            <a:extLst>
              <a:ext uri="{FF2B5EF4-FFF2-40B4-BE49-F238E27FC236}">
                <a16:creationId xmlns:a16="http://schemas.microsoft.com/office/drawing/2014/main" id="{D65DFE59-574D-B829-BBE3-926B2722E02D}"/>
              </a:ext>
            </a:extLst>
          </p:cNvPr>
          <p:cNvGrpSpPr/>
          <p:nvPr/>
        </p:nvGrpSpPr>
        <p:grpSpPr>
          <a:xfrm>
            <a:off x="546037" y="4991252"/>
            <a:ext cx="2667305" cy="1447495"/>
            <a:chOff x="8839505" y="1580998"/>
            <a:chExt cx="2667305" cy="1447495"/>
          </a:xfrm>
        </p:grpSpPr>
        <p:sp>
          <p:nvSpPr>
            <p:cNvPr id="46" name="Shape 28"/>
            <p:cNvSpPr/>
            <p:nvPr/>
          </p:nvSpPr>
          <p:spPr>
            <a:xfrm>
              <a:off x="9010498" y="2320747"/>
              <a:ext cx="1162202" cy="247802"/>
            </a:xfrm>
            <a:prstGeom prst="roundRect">
              <a:avLst>
                <a:gd name="adj" fmla="val 283849"/>
              </a:avLst>
            </a:prstGeom>
            <a:solidFill>
              <a:srgbClr val="E8F5E9"/>
            </a:solidFill>
            <a:ln w="12700">
              <a:solidFill>
                <a:srgbClr val="C8E6C9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6" name="Shape 21"/>
            <p:cNvSpPr/>
            <p:nvPr/>
          </p:nvSpPr>
          <p:spPr>
            <a:xfrm>
              <a:off x="8839505" y="1580998"/>
              <a:ext cx="2667305" cy="1447495"/>
            </a:xfrm>
            <a:prstGeom prst="roundRect">
              <a:avLst>
                <a:gd name="adj" fmla="val 4987"/>
              </a:avLst>
            </a:prstGeom>
            <a:solidFill>
              <a:srgbClr val="FFFFFF"/>
            </a:solidFill>
            <a:ln/>
            <a:effectLst>
              <a:outerShdw blurRad="139700" dist="381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7" name="Shape 22"/>
            <p:cNvSpPr/>
            <p:nvPr/>
          </p:nvSpPr>
          <p:spPr>
            <a:xfrm>
              <a:off x="8839505" y="1580998"/>
              <a:ext cx="57607" cy="1447495"/>
            </a:xfrm>
            <a:prstGeom prst="rect">
              <a:avLst/>
            </a:prstGeom>
            <a:solidFill>
              <a:srgbClr val="263238"/>
            </a:solidFill>
            <a:ln/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8" name="Shape 23"/>
            <p:cNvSpPr/>
            <p:nvPr/>
          </p:nvSpPr>
          <p:spPr>
            <a:xfrm>
              <a:off x="9010498" y="1695298"/>
              <a:ext cx="304495" cy="304495"/>
            </a:xfrm>
            <a:prstGeom prst="roundRect">
              <a:avLst>
                <a:gd name="adj" fmla="val 300300"/>
              </a:avLst>
            </a:prstGeom>
            <a:solidFill>
              <a:srgbClr val="E8F5E9"/>
            </a:solidFill>
            <a:ln/>
          </p:spPr>
          <p:txBody>
            <a:bodyPr/>
            <a:lstStyle/>
            <a:p>
              <a:endParaRPr lang="ja-JP" altLang="en-US"/>
            </a:p>
          </p:txBody>
        </p:sp>
        <p:pic>
          <p:nvPicPr>
            <p:cNvPr id="39" name="Image 13" descr="preencoded.png"/>
            <p:cNvPicPr>
              <a:picLocks noChangeAspect="1"/>
            </p:cNvPicPr>
            <p:nvPr/>
          </p:nvPicPr>
          <p:blipFill>
            <a:blip r:embed="rId11"/>
            <a:srcRect t="-43" b="-43"/>
            <a:stretch/>
          </p:blipFill>
          <p:spPr>
            <a:xfrm>
              <a:off x="9096451" y="1772107"/>
              <a:ext cx="133502" cy="152705"/>
            </a:xfrm>
            <a:prstGeom prst="rect">
              <a:avLst/>
            </a:prstGeom>
          </p:spPr>
        </p:pic>
        <p:pic>
          <p:nvPicPr>
            <p:cNvPr id="40" name="Image 14" descr="preencoded.png"/>
            <p:cNvPicPr>
              <a:picLocks noChangeAspect="1"/>
            </p:cNvPicPr>
            <p:nvPr/>
          </p:nvPicPr>
          <p:blipFill>
            <a:blip r:embed="rId12"/>
            <a:srcRect l="-133" r="-133"/>
            <a:stretch/>
          </p:blipFill>
          <p:spPr>
            <a:xfrm>
              <a:off x="9115654" y="2387498"/>
              <a:ext cx="85954" cy="114300"/>
            </a:xfrm>
            <a:prstGeom prst="rect">
              <a:avLst/>
            </a:prstGeom>
          </p:spPr>
        </p:pic>
        <p:sp>
          <p:nvSpPr>
            <p:cNvPr id="41" name="Text 24"/>
            <p:cNvSpPr txBox="1"/>
            <p:nvPr/>
          </p:nvSpPr>
          <p:spPr>
            <a:xfrm>
              <a:off x="9258300" y="2358238"/>
              <a:ext cx="896112" cy="1719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388E3C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メスで強く働く</a:t>
              </a:r>
              <a:endParaRPr lang="en-US" sz="900" dirty="0"/>
            </a:p>
          </p:txBody>
        </p:sp>
        <p:sp>
          <p:nvSpPr>
            <p:cNvPr id="42" name="Shape 25"/>
            <p:cNvSpPr/>
            <p:nvPr/>
          </p:nvSpPr>
          <p:spPr>
            <a:xfrm>
              <a:off x="9010498" y="2644445"/>
              <a:ext cx="2381098" cy="9144"/>
            </a:xfrm>
            <a:prstGeom prst="rect">
              <a:avLst/>
            </a:prstGeom>
            <a:solidFill>
              <a:srgbClr val="ECEFF1"/>
            </a:solidFill>
            <a:ln/>
          </p:spPr>
          <p:txBody>
            <a:bodyPr/>
            <a:lstStyle/>
            <a:p>
              <a:endParaRPr lang="ja-JP" altLang="en-US"/>
            </a:p>
          </p:txBody>
        </p:sp>
        <p:pic>
          <p:nvPicPr>
            <p:cNvPr id="43" name="Image 15" descr="preencoded.png"/>
            <p:cNvPicPr>
              <a:picLocks noChangeAspect="1"/>
            </p:cNvPicPr>
            <p:nvPr/>
          </p:nvPicPr>
          <p:blipFill>
            <a:blip r:embed="rId10"/>
            <a:srcRect t="-1100" b="-1100"/>
            <a:stretch/>
          </p:blipFill>
          <p:spPr>
            <a:xfrm>
              <a:off x="9010498" y="2741371"/>
              <a:ext cx="114300" cy="133502"/>
            </a:xfrm>
            <a:prstGeom prst="rect">
              <a:avLst/>
            </a:prstGeom>
          </p:spPr>
        </p:pic>
        <p:sp>
          <p:nvSpPr>
            <p:cNvPr id="44" name="Text 26"/>
            <p:cNvSpPr txBox="1"/>
            <p:nvPr/>
          </p:nvSpPr>
          <p:spPr>
            <a:xfrm>
              <a:off x="9430207" y="1733702"/>
              <a:ext cx="87691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1F2937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毒をつくる</a:t>
              </a:r>
              <a:endParaRPr lang="en-US" sz="1200" dirty="0"/>
            </a:p>
          </p:txBody>
        </p:sp>
        <p:sp>
          <p:nvSpPr>
            <p:cNvPr id="45" name="Text 27"/>
            <p:cNvSpPr txBox="1"/>
            <p:nvPr/>
          </p:nvSpPr>
          <p:spPr>
            <a:xfrm>
              <a:off x="9010498" y="2076602"/>
              <a:ext cx="1560881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455A64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トキシン遺伝子 (毒素A)</a:t>
              </a:r>
              <a:endParaRPr lang="en-US" sz="1000" dirty="0"/>
            </a:p>
          </p:txBody>
        </p:sp>
        <p:sp>
          <p:nvSpPr>
            <p:cNvPr id="47" name="Text 29"/>
            <p:cNvSpPr txBox="1"/>
            <p:nvPr/>
          </p:nvSpPr>
          <p:spPr>
            <a:xfrm>
              <a:off x="9201607" y="2711196"/>
              <a:ext cx="1392631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546E7A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強力な毒をつくりだす</a:t>
              </a:r>
              <a:endParaRPr lang="en-US" sz="1000" dirty="0"/>
            </a:p>
          </p:txBody>
        </p:sp>
      </p:grpSp>
      <p:sp>
        <p:nvSpPr>
          <p:cNvPr id="48" name="Shape 30"/>
          <p:cNvSpPr/>
          <p:nvPr/>
        </p:nvSpPr>
        <p:spPr>
          <a:xfrm>
            <a:off x="8839505" y="4733849"/>
            <a:ext cx="2667305" cy="1447495"/>
          </a:xfrm>
          <a:prstGeom prst="roundRect">
            <a:avLst>
              <a:gd name="adj" fmla="val 4987"/>
            </a:avLst>
          </a:prstGeom>
          <a:solidFill>
            <a:srgbClr val="FFFFFF"/>
          </a:solidFill>
          <a:ln/>
          <a:effectLst>
            <a:outerShdw blurRad="1397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9" name="Shape 31"/>
          <p:cNvSpPr/>
          <p:nvPr/>
        </p:nvSpPr>
        <p:spPr>
          <a:xfrm>
            <a:off x="8839505" y="4733849"/>
            <a:ext cx="57607" cy="1447495"/>
          </a:xfrm>
          <a:prstGeom prst="rect">
            <a:avLst/>
          </a:prstGeom>
          <a:solidFill>
            <a:srgbClr val="26323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0" name="Shape 32"/>
          <p:cNvSpPr/>
          <p:nvPr/>
        </p:nvSpPr>
        <p:spPr>
          <a:xfrm>
            <a:off x="9010498" y="4848149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E8F5E9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51" name="Image 16" descr="preencoded.png"/>
          <p:cNvPicPr>
            <a:picLocks noChangeAspect="1"/>
          </p:cNvPicPr>
          <p:nvPr/>
        </p:nvPicPr>
        <p:blipFill>
          <a:blip r:embed="rId13"/>
          <a:srcRect t="-180" b="-180"/>
          <a:stretch/>
        </p:blipFill>
        <p:spPr>
          <a:xfrm>
            <a:off x="9068105" y="4924044"/>
            <a:ext cx="190195" cy="152705"/>
          </a:xfrm>
          <a:prstGeom prst="rect">
            <a:avLst/>
          </a:prstGeom>
        </p:spPr>
      </p:pic>
      <p:pic>
        <p:nvPicPr>
          <p:cNvPr id="52" name="Image 17" descr="preencoded.png"/>
          <p:cNvPicPr>
            <a:picLocks noChangeAspect="1"/>
          </p:cNvPicPr>
          <p:nvPr/>
        </p:nvPicPr>
        <p:blipFill>
          <a:blip r:embed="rId12"/>
          <a:srcRect l="-133" r="-133"/>
          <a:stretch/>
        </p:blipFill>
        <p:spPr>
          <a:xfrm>
            <a:off x="9115654" y="5539435"/>
            <a:ext cx="85954" cy="114300"/>
          </a:xfrm>
          <a:prstGeom prst="rect">
            <a:avLst/>
          </a:prstGeom>
        </p:spPr>
      </p:pic>
      <p:sp>
        <p:nvSpPr>
          <p:cNvPr id="53" name="Text 33"/>
          <p:cNvSpPr txBox="1"/>
          <p:nvPr/>
        </p:nvSpPr>
        <p:spPr>
          <a:xfrm>
            <a:off x="9258300" y="5511089"/>
            <a:ext cx="8961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88E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メスで強く働く</a:t>
            </a:r>
            <a:endParaRPr lang="en-US" sz="900" dirty="0"/>
          </a:p>
        </p:txBody>
      </p:sp>
      <p:sp>
        <p:nvSpPr>
          <p:cNvPr id="54" name="Shape 34"/>
          <p:cNvSpPr/>
          <p:nvPr/>
        </p:nvSpPr>
        <p:spPr>
          <a:xfrm>
            <a:off x="9010498" y="5797296"/>
            <a:ext cx="2381098" cy="9144"/>
          </a:xfrm>
          <a:prstGeom prst="rect">
            <a:avLst/>
          </a:prstGeom>
          <a:solidFill>
            <a:srgbClr val="ECEFF1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55" name="Image 18" descr="preencoded.png"/>
          <p:cNvPicPr>
            <a:picLocks noChangeAspect="1"/>
          </p:cNvPicPr>
          <p:nvPr/>
        </p:nvPicPr>
        <p:blipFill>
          <a:blip r:embed="rId10"/>
          <a:srcRect t="-1100" b="-1100"/>
          <a:stretch/>
        </p:blipFill>
        <p:spPr>
          <a:xfrm>
            <a:off x="9010498" y="5894222"/>
            <a:ext cx="114300" cy="133502"/>
          </a:xfrm>
          <a:prstGeom prst="rect">
            <a:avLst/>
          </a:prstGeom>
        </p:spPr>
      </p:pic>
      <p:sp>
        <p:nvSpPr>
          <p:cNvPr id="56" name="Text 35"/>
          <p:cNvSpPr txBox="1"/>
          <p:nvPr/>
        </p:nvSpPr>
        <p:spPr>
          <a:xfrm>
            <a:off x="9430207" y="4886554"/>
            <a:ext cx="12957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棘(トゲ)をつくる</a:t>
            </a:r>
            <a:endParaRPr lang="en-US" sz="1200" dirty="0"/>
          </a:p>
        </p:txBody>
      </p:sp>
      <p:sp>
        <p:nvSpPr>
          <p:cNvPr id="57" name="Text 36"/>
          <p:cNvSpPr txBox="1"/>
          <p:nvPr/>
        </p:nvSpPr>
        <p:spPr>
          <a:xfrm>
            <a:off x="9010498" y="5229454"/>
            <a:ext cx="16175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55A6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スパイン遺伝子 (棘形成)</a:t>
            </a:r>
            <a:endParaRPr lang="en-US" sz="1000" dirty="0"/>
          </a:p>
        </p:txBody>
      </p:sp>
      <p:sp>
        <p:nvSpPr>
          <p:cNvPr id="59" name="Text 38"/>
          <p:cNvSpPr txBox="1"/>
          <p:nvPr/>
        </p:nvSpPr>
        <p:spPr>
          <a:xfrm>
            <a:off x="9201607" y="5863133"/>
            <a:ext cx="126918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46E7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鋭い尾の棘を生やす</a:t>
            </a:r>
            <a:endParaRPr lang="en-US" sz="1000" dirty="0"/>
          </a:p>
        </p:txBody>
      </p:sp>
      <p:grpSp>
        <p:nvGrpSpPr>
          <p:cNvPr id="122" name="グループ化 121">
            <a:extLst>
              <a:ext uri="{FF2B5EF4-FFF2-40B4-BE49-F238E27FC236}">
                <a16:creationId xmlns:a16="http://schemas.microsoft.com/office/drawing/2014/main" id="{3560159B-3AC6-D9A0-C32A-088ED18E1A20}"/>
              </a:ext>
            </a:extLst>
          </p:cNvPr>
          <p:cNvGrpSpPr/>
          <p:nvPr/>
        </p:nvGrpSpPr>
        <p:grpSpPr>
          <a:xfrm>
            <a:off x="9072805" y="1548993"/>
            <a:ext cx="2667305" cy="1438351"/>
            <a:chOff x="685800" y="4742993"/>
            <a:chExt cx="2667305" cy="1438351"/>
          </a:xfrm>
        </p:grpSpPr>
        <p:sp>
          <p:nvSpPr>
            <p:cNvPr id="70" name="Shape 46"/>
            <p:cNvSpPr/>
            <p:nvPr/>
          </p:nvSpPr>
          <p:spPr>
            <a:xfrm>
              <a:off x="857707" y="5491886"/>
              <a:ext cx="1248156" cy="228600"/>
            </a:xfrm>
            <a:prstGeom prst="roundRect">
              <a:avLst>
                <a:gd name="adj" fmla="val 333333"/>
              </a:avLst>
            </a:prstGeom>
            <a:solidFill>
              <a:srgbClr val="EFF6FF"/>
            </a:solidFill>
            <a:ln/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0" name="Shape 39"/>
            <p:cNvSpPr/>
            <p:nvPr/>
          </p:nvSpPr>
          <p:spPr>
            <a:xfrm>
              <a:off x="685800" y="4742993"/>
              <a:ext cx="2667305" cy="1438351"/>
            </a:xfrm>
            <a:prstGeom prst="roundRect">
              <a:avLst>
                <a:gd name="adj" fmla="val 5052"/>
              </a:avLst>
            </a:prstGeom>
            <a:solidFill>
              <a:srgbClr val="FFFFFF"/>
            </a:solidFill>
            <a:ln/>
            <a:effectLst>
              <a:outerShdw blurRad="139700" dist="381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1" name="Shape 40"/>
            <p:cNvSpPr/>
            <p:nvPr/>
          </p:nvSpPr>
          <p:spPr>
            <a:xfrm>
              <a:off x="685800" y="4742993"/>
              <a:ext cx="57607" cy="1438351"/>
            </a:xfrm>
            <a:prstGeom prst="rect">
              <a:avLst/>
            </a:prstGeom>
            <a:solidFill>
              <a:srgbClr val="263238"/>
            </a:solidFill>
            <a:ln/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2" name="Shape 41"/>
            <p:cNvSpPr/>
            <p:nvPr/>
          </p:nvSpPr>
          <p:spPr>
            <a:xfrm>
              <a:off x="857707" y="4857293"/>
              <a:ext cx="304495" cy="304495"/>
            </a:xfrm>
            <a:prstGeom prst="roundRect">
              <a:avLst>
                <a:gd name="adj" fmla="val 300300"/>
              </a:avLst>
            </a:prstGeom>
            <a:solidFill>
              <a:srgbClr val="EFF6FF"/>
            </a:solidFill>
            <a:ln/>
          </p:spPr>
          <p:txBody>
            <a:bodyPr/>
            <a:lstStyle/>
            <a:p>
              <a:endParaRPr lang="ja-JP" altLang="en-US"/>
            </a:p>
          </p:txBody>
        </p:sp>
        <p:pic>
          <p:nvPicPr>
            <p:cNvPr id="63" name="Image 19" descr="preencoded.png"/>
            <p:cNvPicPr>
              <a:picLocks noChangeAspect="1"/>
            </p:cNvPicPr>
            <p:nvPr/>
          </p:nvPicPr>
          <p:blipFill>
            <a:blip r:embed="rId14"/>
            <a:srcRect l="-33" r="-33"/>
            <a:stretch/>
          </p:blipFill>
          <p:spPr>
            <a:xfrm>
              <a:off x="923544" y="4934102"/>
              <a:ext cx="171907" cy="152705"/>
            </a:xfrm>
            <a:prstGeom prst="rect">
              <a:avLst/>
            </a:prstGeom>
          </p:spPr>
        </p:pic>
        <p:pic>
          <p:nvPicPr>
            <p:cNvPr id="64" name="Image 20" descr="preencoded.png"/>
            <p:cNvPicPr>
              <a:picLocks noChangeAspect="1"/>
            </p:cNvPicPr>
            <p:nvPr/>
          </p:nvPicPr>
          <p:blipFill>
            <a:blip r:embed="rId15"/>
            <a:srcRect l="-133" r="-133"/>
            <a:stretch/>
          </p:blipFill>
          <p:spPr>
            <a:xfrm>
              <a:off x="952805" y="5549494"/>
              <a:ext cx="85954" cy="114300"/>
            </a:xfrm>
            <a:prstGeom prst="rect">
              <a:avLst/>
            </a:prstGeom>
          </p:spPr>
        </p:pic>
        <p:sp>
          <p:nvSpPr>
            <p:cNvPr id="65" name="Text 42"/>
            <p:cNvSpPr txBox="1"/>
            <p:nvPr/>
          </p:nvSpPr>
          <p:spPr>
            <a:xfrm>
              <a:off x="1095451" y="5520233"/>
              <a:ext cx="1000354" cy="1719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場所によって違う</a:t>
              </a:r>
              <a:endParaRPr lang="en-US" sz="900" dirty="0"/>
            </a:p>
          </p:txBody>
        </p:sp>
        <p:sp>
          <p:nvSpPr>
            <p:cNvPr id="66" name="Shape 43"/>
            <p:cNvSpPr/>
            <p:nvPr/>
          </p:nvSpPr>
          <p:spPr>
            <a:xfrm>
              <a:off x="857707" y="5797296"/>
              <a:ext cx="2381098" cy="9144"/>
            </a:xfrm>
            <a:prstGeom prst="rect">
              <a:avLst/>
            </a:prstGeom>
            <a:solidFill>
              <a:srgbClr val="ECEFF1"/>
            </a:solidFill>
            <a:ln/>
          </p:spPr>
          <p:txBody>
            <a:bodyPr/>
            <a:lstStyle/>
            <a:p>
              <a:endParaRPr lang="ja-JP" altLang="en-US"/>
            </a:p>
          </p:txBody>
        </p:sp>
        <p:pic>
          <p:nvPicPr>
            <p:cNvPr id="67" name="Image 21" descr="preencoded.png"/>
            <p:cNvPicPr>
              <a:picLocks noChangeAspect="1"/>
            </p:cNvPicPr>
            <p:nvPr/>
          </p:nvPicPr>
          <p:blipFill>
            <a:blip r:embed="rId10"/>
            <a:srcRect t="-1100" b="-1100"/>
            <a:stretch/>
          </p:blipFill>
          <p:spPr>
            <a:xfrm>
              <a:off x="857707" y="5894222"/>
              <a:ext cx="114300" cy="133502"/>
            </a:xfrm>
            <a:prstGeom prst="rect">
              <a:avLst/>
            </a:prstGeom>
          </p:spPr>
        </p:pic>
        <p:sp>
          <p:nvSpPr>
            <p:cNvPr id="68" name="Text 44"/>
            <p:cNvSpPr txBox="1"/>
            <p:nvPr/>
          </p:nvSpPr>
          <p:spPr>
            <a:xfrm>
              <a:off x="1276502" y="4895698"/>
              <a:ext cx="10287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1F2937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骨格をつくる</a:t>
              </a:r>
              <a:endParaRPr lang="en-US" sz="1200" dirty="0"/>
            </a:p>
          </p:txBody>
        </p:sp>
        <p:sp>
          <p:nvSpPr>
            <p:cNvPr id="69" name="Text 45"/>
            <p:cNvSpPr txBox="1"/>
            <p:nvPr/>
          </p:nvSpPr>
          <p:spPr>
            <a:xfrm>
              <a:off x="857707" y="5238598"/>
              <a:ext cx="1608430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455A64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ボーン遺伝子 (骨格形成)</a:t>
              </a:r>
              <a:endParaRPr lang="en-US" sz="1000" dirty="0"/>
            </a:p>
          </p:txBody>
        </p:sp>
        <p:sp>
          <p:nvSpPr>
            <p:cNvPr id="71" name="Text 47"/>
            <p:cNvSpPr txBox="1"/>
            <p:nvPr/>
          </p:nvSpPr>
          <p:spPr>
            <a:xfrm>
              <a:off x="1047902" y="5863133"/>
              <a:ext cx="1526134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546E7A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翼や尾の骨組みをつくる</a:t>
              </a:r>
              <a:endParaRPr lang="en-US" sz="1000" dirty="0"/>
            </a:p>
          </p:txBody>
        </p:sp>
      </p:grpSp>
      <p:sp>
        <p:nvSpPr>
          <p:cNvPr id="72" name="Shape 48"/>
          <p:cNvSpPr/>
          <p:nvPr/>
        </p:nvSpPr>
        <p:spPr>
          <a:xfrm>
            <a:off x="448056" y="3257093"/>
            <a:ext cx="2667305" cy="1438351"/>
          </a:xfrm>
          <a:prstGeom prst="roundRect">
            <a:avLst>
              <a:gd name="adj" fmla="val 5052"/>
            </a:avLst>
          </a:prstGeom>
          <a:solidFill>
            <a:srgbClr val="FFFFFF"/>
          </a:solidFill>
          <a:ln/>
          <a:effectLst>
            <a:outerShdw blurRad="1397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3" name="Shape 49"/>
          <p:cNvSpPr/>
          <p:nvPr/>
        </p:nvSpPr>
        <p:spPr>
          <a:xfrm>
            <a:off x="448056" y="3257093"/>
            <a:ext cx="57607" cy="1438351"/>
          </a:xfrm>
          <a:prstGeom prst="rect">
            <a:avLst/>
          </a:prstGeom>
          <a:solidFill>
            <a:srgbClr val="26323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4" name="Shape 50"/>
          <p:cNvSpPr/>
          <p:nvPr/>
        </p:nvSpPr>
        <p:spPr>
          <a:xfrm>
            <a:off x="619049" y="3371393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F5F3FF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75" name="Image 22" descr="preencoded.png"/>
          <p:cNvPicPr>
            <a:picLocks noChangeAspect="1"/>
          </p:cNvPicPr>
          <p:nvPr/>
        </p:nvPicPr>
        <p:blipFill>
          <a:blip r:embed="rId16"/>
          <a:srcRect t="-43" b="-43"/>
          <a:stretch/>
        </p:blipFill>
        <p:spPr>
          <a:xfrm>
            <a:off x="705002" y="3448202"/>
            <a:ext cx="133502" cy="152705"/>
          </a:xfrm>
          <a:prstGeom prst="rect">
            <a:avLst/>
          </a:prstGeom>
        </p:spPr>
      </p:pic>
      <p:pic>
        <p:nvPicPr>
          <p:cNvPr id="76" name="Image 23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714146" y="4063594"/>
            <a:ext cx="114300" cy="114300"/>
          </a:xfrm>
          <a:prstGeom prst="rect">
            <a:avLst/>
          </a:prstGeom>
        </p:spPr>
      </p:pic>
      <p:sp>
        <p:nvSpPr>
          <p:cNvPr id="77" name="Text 51"/>
          <p:cNvSpPr txBox="1"/>
          <p:nvPr/>
        </p:nvSpPr>
        <p:spPr>
          <a:xfrm>
            <a:off x="886054" y="4035247"/>
            <a:ext cx="11247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C3AE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オスとメスでズレる</a:t>
            </a:r>
            <a:endParaRPr lang="en-US" sz="900" dirty="0"/>
          </a:p>
        </p:txBody>
      </p:sp>
      <p:sp>
        <p:nvSpPr>
          <p:cNvPr id="78" name="Shape 52"/>
          <p:cNvSpPr/>
          <p:nvPr/>
        </p:nvSpPr>
        <p:spPr>
          <a:xfrm>
            <a:off x="619049" y="4311396"/>
            <a:ext cx="2381098" cy="9144"/>
          </a:xfrm>
          <a:prstGeom prst="rect">
            <a:avLst/>
          </a:prstGeom>
          <a:solidFill>
            <a:srgbClr val="ECEFF1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79" name="Image 24" descr="preencoded.png"/>
          <p:cNvPicPr>
            <a:picLocks noChangeAspect="1"/>
          </p:cNvPicPr>
          <p:nvPr/>
        </p:nvPicPr>
        <p:blipFill>
          <a:blip r:embed="rId10"/>
          <a:srcRect t="-1100" b="-1100"/>
          <a:stretch/>
        </p:blipFill>
        <p:spPr>
          <a:xfrm>
            <a:off x="619049" y="4408322"/>
            <a:ext cx="114300" cy="133502"/>
          </a:xfrm>
          <a:prstGeom prst="rect">
            <a:avLst/>
          </a:prstGeom>
        </p:spPr>
      </p:pic>
      <p:sp>
        <p:nvSpPr>
          <p:cNvPr id="80" name="Text 53"/>
          <p:cNvSpPr txBox="1"/>
          <p:nvPr/>
        </p:nvSpPr>
        <p:spPr>
          <a:xfrm>
            <a:off x="1037844" y="3409798"/>
            <a:ext cx="11914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体の軸を決める</a:t>
            </a:r>
            <a:endParaRPr lang="en-US" sz="1200" dirty="0"/>
          </a:p>
        </p:txBody>
      </p:sp>
      <p:sp>
        <p:nvSpPr>
          <p:cNvPr id="81" name="Text 54"/>
          <p:cNvSpPr txBox="1"/>
          <p:nvPr/>
        </p:nvSpPr>
        <p:spPr>
          <a:xfrm>
            <a:off x="619049" y="3752698"/>
            <a:ext cx="147492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55A6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ホックス遺伝子 (体軸)</a:t>
            </a:r>
            <a:endParaRPr lang="en-US" sz="1000" dirty="0"/>
          </a:p>
        </p:txBody>
      </p:sp>
      <p:sp>
        <p:nvSpPr>
          <p:cNvPr id="83" name="Text 56"/>
          <p:cNvSpPr txBox="1"/>
          <p:nvPr/>
        </p:nvSpPr>
        <p:spPr>
          <a:xfrm>
            <a:off x="809244" y="4378147"/>
            <a:ext cx="13926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46E7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体の長さや形を決める</a:t>
            </a:r>
            <a:endParaRPr lang="en-US" sz="1000" dirty="0"/>
          </a:p>
        </p:txBody>
      </p:sp>
      <p:sp>
        <p:nvSpPr>
          <p:cNvPr id="84" name="Shape 57"/>
          <p:cNvSpPr/>
          <p:nvPr/>
        </p:nvSpPr>
        <p:spPr>
          <a:xfrm>
            <a:off x="9077249" y="3252521"/>
            <a:ext cx="2667305" cy="1447495"/>
          </a:xfrm>
          <a:prstGeom prst="roundRect">
            <a:avLst>
              <a:gd name="adj" fmla="val 4987"/>
            </a:avLst>
          </a:prstGeom>
          <a:solidFill>
            <a:srgbClr val="FFFFFF"/>
          </a:solidFill>
          <a:ln/>
          <a:effectLst>
            <a:outerShdw blurRad="1397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85" name="Shape 58"/>
          <p:cNvSpPr/>
          <p:nvPr/>
        </p:nvSpPr>
        <p:spPr>
          <a:xfrm>
            <a:off x="9077249" y="3252521"/>
            <a:ext cx="57607" cy="1447495"/>
          </a:xfrm>
          <a:prstGeom prst="rect">
            <a:avLst/>
          </a:prstGeom>
          <a:solidFill>
            <a:srgbClr val="26323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6" name="Shape 59"/>
          <p:cNvSpPr/>
          <p:nvPr/>
        </p:nvSpPr>
        <p:spPr>
          <a:xfrm>
            <a:off x="9249156" y="3366821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FFFBEB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87" name="Image 25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9325051" y="3443630"/>
            <a:ext cx="152705" cy="152705"/>
          </a:xfrm>
          <a:prstGeom prst="rect">
            <a:avLst/>
          </a:prstGeom>
        </p:spPr>
      </p:pic>
      <p:pic>
        <p:nvPicPr>
          <p:cNvPr id="88" name="Image 26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9353398" y="4059022"/>
            <a:ext cx="114300" cy="114300"/>
          </a:xfrm>
          <a:prstGeom prst="rect">
            <a:avLst/>
          </a:prstGeom>
        </p:spPr>
      </p:pic>
      <p:sp>
        <p:nvSpPr>
          <p:cNvPr id="89" name="Text 60"/>
          <p:cNvSpPr txBox="1"/>
          <p:nvPr/>
        </p:nvSpPr>
        <p:spPr>
          <a:xfrm>
            <a:off x="9525305" y="4029761"/>
            <a:ext cx="9811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7F1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種類(亜種)で違う</a:t>
            </a:r>
            <a:endParaRPr lang="en-US" sz="900" dirty="0"/>
          </a:p>
        </p:txBody>
      </p:sp>
      <p:sp>
        <p:nvSpPr>
          <p:cNvPr id="90" name="Shape 61"/>
          <p:cNvSpPr/>
          <p:nvPr/>
        </p:nvSpPr>
        <p:spPr>
          <a:xfrm>
            <a:off x="9249156" y="4315968"/>
            <a:ext cx="2381098" cy="9144"/>
          </a:xfrm>
          <a:prstGeom prst="rect">
            <a:avLst/>
          </a:prstGeom>
          <a:solidFill>
            <a:srgbClr val="ECEFF1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91" name="Image 27" descr="preencoded.png"/>
          <p:cNvPicPr>
            <a:picLocks noChangeAspect="1"/>
          </p:cNvPicPr>
          <p:nvPr/>
        </p:nvPicPr>
        <p:blipFill>
          <a:blip r:embed="rId10"/>
          <a:srcRect t="-1100" b="-1100"/>
          <a:stretch/>
        </p:blipFill>
        <p:spPr>
          <a:xfrm>
            <a:off x="9249156" y="4412894"/>
            <a:ext cx="114300" cy="133502"/>
          </a:xfrm>
          <a:prstGeom prst="rect">
            <a:avLst/>
          </a:prstGeom>
        </p:spPr>
      </p:pic>
      <p:sp>
        <p:nvSpPr>
          <p:cNvPr id="92" name="Text 62"/>
          <p:cNvSpPr txBox="1"/>
          <p:nvPr/>
        </p:nvSpPr>
        <p:spPr>
          <a:xfrm>
            <a:off x="9667951" y="3405226"/>
            <a:ext cx="1343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色・模様を決める</a:t>
            </a:r>
            <a:endParaRPr lang="en-US" sz="1200" dirty="0"/>
          </a:p>
        </p:txBody>
      </p:sp>
      <p:sp>
        <p:nvSpPr>
          <p:cNvPr id="93" name="Text 63"/>
          <p:cNvSpPr txBox="1"/>
          <p:nvPr/>
        </p:nvSpPr>
        <p:spPr>
          <a:xfrm>
            <a:off x="9249156" y="3748126"/>
            <a:ext cx="134142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55A6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カラー遺伝子 (色素)</a:t>
            </a:r>
            <a:endParaRPr lang="en-US" sz="1000" dirty="0"/>
          </a:p>
        </p:txBody>
      </p:sp>
      <p:sp>
        <p:nvSpPr>
          <p:cNvPr id="95" name="Text 65"/>
          <p:cNvSpPr txBox="1"/>
          <p:nvPr/>
        </p:nvSpPr>
        <p:spPr>
          <a:xfrm>
            <a:off x="9439351" y="4382719"/>
            <a:ext cx="178308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46E7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赤・緑・金・銀の色が決まる</a:t>
            </a:r>
            <a:endParaRPr lang="en-US" sz="1000" dirty="0"/>
          </a:p>
        </p:txBody>
      </p:sp>
      <p:sp>
        <p:nvSpPr>
          <p:cNvPr id="96" name="Shape 66"/>
          <p:cNvSpPr/>
          <p:nvPr/>
        </p:nvSpPr>
        <p:spPr>
          <a:xfrm>
            <a:off x="4523091" y="5653735"/>
            <a:ext cx="3238805" cy="933602"/>
          </a:xfrm>
          <a:prstGeom prst="roundRect">
            <a:avLst>
              <a:gd name="adj" fmla="val 11993"/>
            </a:avLst>
          </a:prstGeom>
          <a:solidFill>
            <a:srgbClr val="FFFFFF"/>
          </a:solidFill>
          <a:ln/>
          <a:effectLst>
            <a:outerShdw blurRad="1397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7" name="Shape 67"/>
          <p:cNvSpPr/>
          <p:nvPr/>
        </p:nvSpPr>
        <p:spPr>
          <a:xfrm>
            <a:off x="4523091" y="5653735"/>
            <a:ext cx="57607" cy="933602"/>
          </a:xfrm>
          <a:prstGeom prst="rect">
            <a:avLst/>
          </a:prstGeom>
          <a:solidFill>
            <a:srgbClr val="26323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8" name="Shape 68"/>
          <p:cNvSpPr/>
          <p:nvPr/>
        </p:nvSpPr>
        <p:spPr>
          <a:xfrm>
            <a:off x="4951945" y="5768035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99" name="Image 28" descr="preencoded.png"/>
          <p:cNvPicPr>
            <a:picLocks noChangeAspect="1"/>
          </p:cNvPicPr>
          <p:nvPr/>
        </p:nvPicPr>
        <p:blipFill>
          <a:blip r:embed="rId20"/>
          <a:srcRect t="-180" b="-180"/>
          <a:stretch/>
        </p:blipFill>
        <p:spPr>
          <a:xfrm>
            <a:off x="4970233" y="5805526"/>
            <a:ext cx="190195" cy="152705"/>
          </a:xfrm>
          <a:prstGeom prst="rect">
            <a:avLst/>
          </a:prstGeom>
        </p:spPr>
      </p:pic>
      <p:sp>
        <p:nvSpPr>
          <p:cNvPr id="100" name="Shape 69"/>
          <p:cNvSpPr/>
          <p:nvPr/>
        </p:nvSpPr>
        <p:spPr>
          <a:xfrm>
            <a:off x="4694084" y="6072530"/>
            <a:ext cx="2952598" cy="400507"/>
          </a:xfrm>
          <a:prstGeom prst="roundRect">
            <a:avLst>
              <a:gd name="adj" fmla="val 43488"/>
            </a:avLst>
          </a:prstGeom>
          <a:solidFill>
            <a:srgbClr val="F9FAF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1" name="Shape 70"/>
          <p:cNvSpPr/>
          <p:nvPr/>
        </p:nvSpPr>
        <p:spPr>
          <a:xfrm>
            <a:off x="6213817" y="6148426"/>
            <a:ext cx="676656" cy="247802"/>
          </a:xfrm>
          <a:prstGeom prst="roundRect">
            <a:avLst>
              <a:gd name="adj" fmla="val 283849"/>
            </a:avLst>
          </a:prstGeom>
          <a:solidFill>
            <a:srgbClr val="ECEFF1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2" name="Text 71"/>
          <p:cNvSpPr txBox="1"/>
          <p:nvPr/>
        </p:nvSpPr>
        <p:spPr>
          <a:xfrm>
            <a:off x="6318973" y="6186830"/>
            <a:ext cx="5532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546E7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常に一定</a:t>
            </a:r>
            <a:endParaRPr lang="en-US" sz="900" dirty="0"/>
          </a:p>
        </p:txBody>
      </p:sp>
      <p:sp>
        <p:nvSpPr>
          <p:cNvPr id="103" name="Text 72"/>
          <p:cNvSpPr txBox="1"/>
          <p:nvPr/>
        </p:nvSpPr>
        <p:spPr>
          <a:xfrm>
            <a:off x="5256440" y="5786323"/>
            <a:ext cx="22338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常に働く基準（ハウスキーピング）</a:t>
            </a:r>
            <a:endParaRPr lang="en-US" sz="1000" dirty="0"/>
          </a:p>
        </p:txBody>
      </p:sp>
      <p:sp>
        <p:nvSpPr>
          <p:cNvPr id="104" name="Text 73"/>
          <p:cNvSpPr txBox="1"/>
          <p:nvPr/>
        </p:nvSpPr>
        <p:spPr>
          <a:xfrm>
            <a:off x="4770894" y="6176772"/>
            <a:ext cx="14337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アクチン遺伝子 (基準)</a:t>
            </a:r>
            <a:endParaRPr lang="en-US" sz="1000" dirty="0"/>
          </a:p>
        </p:txBody>
      </p:sp>
      <p:sp>
        <p:nvSpPr>
          <p:cNvPr id="105" name="Text 74"/>
          <p:cNvSpPr txBox="1"/>
          <p:nvPr/>
        </p:nvSpPr>
        <p:spPr>
          <a:xfrm>
            <a:off x="6999287" y="6186830"/>
            <a:ext cx="6675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細胞の土台</a:t>
            </a:r>
            <a:endParaRPr lang="en-US" sz="900" dirty="0"/>
          </a:p>
        </p:txBody>
      </p:sp>
      <p:cxnSp>
        <p:nvCxnSpPr>
          <p:cNvPr id="107" name="直線コネクタ 106">
            <a:extLst>
              <a:ext uri="{FF2B5EF4-FFF2-40B4-BE49-F238E27FC236}">
                <a16:creationId xmlns:a16="http://schemas.microsoft.com/office/drawing/2014/main" id="{8CC72416-5EB1-FCD7-CA36-B54611A0CBC8}"/>
              </a:ext>
            </a:extLst>
          </p:cNvPr>
          <p:cNvCxnSpPr>
            <a:cxnSpLocks/>
            <a:stCxn id="24" idx="3"/>
          </p:cNvCxnSpPr>
          <p:nvPr/>
        </p:nvCxnSpPr>
        <p:spPr>
          <a:xfrm>
            <a:off x="3353105" y="2304746"/>
            <a:ext cx="1403147" cy="1062075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線コネクタ 107">
            <a:extLst>
              <a:ext uri="{FF2B5EF4-FFF2-40B4-BE49-F238E27FC236}">
                <a16:creationId xmlns:a16="http://schemas.microsoft.com/office/drawing/2014/main" id="{C9912B40-AB20-CAC6-24C8-DECE530D018D}"/>
              </a:ext>
            </a:extLst>
          </p:cNvPr>
          <p:cNvCxnSpPr>
            <a:cxnSpLocks/>
          </p:cNvCxnSpPr>
          <p:nvPr/>
        </p:nvCxnSpPr>
        <p:spPr>
          <a:xfrm>
            <a:off x="3115361" y="3992973"/>
            <a:ext cx="1532534" cy="66223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線コネクタ 110">
            <a:extLst>
              <a:ext uri="{FF2B5EF4-FFF2-40B4-BE49-F238E27FC236}">
                <a16:creationId xmlns:a16="http://schemas.microsoft.com/office/drawing/2014/main" id="{EFFA070B-D27F-DDD4-CF4D-40E427468A66}"/>
              </a:ext>
            </a:extLst>
          </p:cNvPr>
          <p:cNvCxnSpPr>
            <a:cxnSpLocks/>
            <a:stCxn id="61" idx="1"/>
          </p:cNvCxnSpPr>
          <p:nvPr/>
        </p:nvCxnSpPr>
        <p:spPr>
          <a:xfrm flipH="1">
            <a:off x="6272784" y="2268169"/>
            <a:ext cx="2800021" cy="1694841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線コネクタ 115">
            <a:extLst>
              <a:ext uri="{FF2B5EF4-FFF2-40B4-BE49-F238E27FC236}">
                <a16:creationId xmlns:a16="http://schemas.microsoft.com/office/drawing/2014/main" id="{A99210EF-F159-9D5F-3C70-731368B34203}"/>
              </a:ext>
            </a:extLst>
          </p:cNvPr>
          <p:cNvCxnSpPr>
            <a:cxnSpLocks/>
            <a:stCxn id="49" idx="1"/>
          </p:cNvCxnSpPr>
          <p:nvPr/>
        </p:nvCxnSpPr>
        <p:spPr>
          <a:xfrm flipH="1" flipV="1">
            <a:off x="8080515" y="4835576"/>
            <a:ext cx="758990" cy="622021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線コネクタ 118">
            <a:extLst>
              <a:ext uri="{FF2B5EF4-FFF2-40B4-BE49-F238E27FC236}">
                <a16:creationId xmlns:a16="http://schemas.microsoft.com/office/drawing/2014/main" id="{BFC7CDF0-E3A4-15E3-759D-8CC2855308A8}"/>
              </a:ext>
            </a:extLst>
          </p:cNvPr>
          <p:cNvCxnSpPr>
            <a:cxnSpLocks/>
            <a:stCxn id="84" idx="1"/>
          </p:cNvCxnSpPr>
          <p:nvPr/>
        </p:nvCxnSpPr>
        <p:spPr>
          <a:xfrm flipH="1">
            <a:off x="7537938" y="3976269"/>
            <a:ext cx="1539311" cy="1056971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線コネクタ 123">
            <a:extLst>
              <a:ext uri="{FF2B5EF4-FFF2-40B4-BE49-F238E27FC236}">
                <a16:creationId xmlns:a16="http://schemas.microsoft.com/office/drawing/2014/main" id="{97E664A8-0B55-F699-E5BB-CE0F6D594201}"/>
              </a:ext>
            </a:extLst>
          </p:cNvPr>
          <p:cNvCxnSpPr>
            <a:cxnSpLocks/>
            <a:stCxn id="36" idx="3"/>
          </p:cNvCxnSpPr>
          <p:nvPr/>
        </p:nvCxnSpPr>
        <p:spPr>
          <a:xfrm flipV="1">
            <a:off x="3213342" y="4991252"/>
            <a:ext cx="736649" cy="72374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304495" y="1143000"/>
            <a:ext cx="11582705" cy="19202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 txBox="1"/>
          <p:nvPr/>
        </p:nvSpPr>
        <p:spPr>
          <a:xfrm>
            <a:off x="304495" y="304495"/>
            <a:ext cx="331012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図3 実験デザインの物語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342900" y="714146"/>
            <a:ext cx="52011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「オスとメス、どこがどう違う？」を調べる3つのステップ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0231222" y="629107"/>
            <a:ext cx="1657807" cy="362102"/>
          </a:xfrm>
          <a:prstGeom prst="roundRect">
            <a:avLst>
              <a:gd name="adj" fmla="val 53163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393070" y="733349"/>
            <a:ext cx="152705" cy="15270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0621670" y="714146"/>
            <a:ext cx="12051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40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Total 19 Samples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04495" y="1466698"/>
            <a:ext cx="3247949" cy="4401007"/>
          </a:xfrm>
          <a:prstGeom prst="roundRect">
            <a:avLst>
              <a:gd name="adj" fmla="val 1321"/>
            </a:avLst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Text 8"/>
          <p:cNvSpPr txBox="1"/>
          <p:nvPr/>
        </p:nvSpPr>
        <p:spPr>
          <a:xfrm>
            <a:off x="1355141" y="1848002"/>
            <a:ext cx="12865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誰を比べる？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195121" y="2200046"/>
            <a:ext cx="15672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性別による基本的な違い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95528" y="2619756"/>
            <a:ext cx="761695" cy="761695"/>
          </a:xfrm>
          <a:prstGeom prst="roundRect">
            <a:avLst>
              <a:gd name="adj" fmla="val 120048"/>
            </a:avLst>
          </a:prstGeom>
          <a:solidFill>
            <a:srgbClr val="FFEBEE"/>
          </a:solidFill>
          <a:ln w="25400">
            <a:solidFill>
              <a:srgbClr val="FFCDD2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rcRect l="-743" r="-743"/>
          <a:stretch/>
        </p:blipFill>
        <p:spPr>
          <a:xfrm>
            <a:off x="1024128" y="2829154"/>
            <a:ext cx="304495" cy="34290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024128" y="3457346"/>
            <a:ext cx="4288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オス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847649" y="3733495"/>
            <a:ext cx="7525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(リオレウス)</a:t>
            </a:r>
            <a:endParaRPr lang="en-US" sz="900" dirty="0"/>
          </a:p>
        </p:txBody>
      </p:sp>
      <p:sp>
        <p:nvSpPr>
          <p:cNvPr id="17" name="Text 13"/>
          <p:cNvSpPr txBox="1"/>
          <p:nvPr/>
        </p:nvSpPr>
        <p:spPr>
          <a:xfrm>
            <a:off x="1785823" y="3095244"/>
            <a:ext cx="4572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1D5D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VS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2295144" y="2619756"/>
            <a:ext cx="761695" cy="761695"/>
          </a:xfrm>
          <a:prstGeom prst="roundRect">
            <a:avLst>
              <a:gd name="adj" fmla="val 120048"/>
            </a:avLst>
          </a:prstGeom>
          <a:solidFill>
            <a:srgbClr val="E8F5E9"/>
          </a:solidFill>
          <a:ln w="25400">
            <a:solidFill>
              <a:srgbClr val="C8E6C9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 t="-45" b="-45"/>
          <a:stretch/>
        </p:blipFill>
        <p:spPr>
          <a:xfrm>
            <a:off x="2547518" y="2829154"/>
            <a:ext cx="256946" cy="3429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2523744" y="3457346"/>
            <a:ext cx="4288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メス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2347265" y="3733495"/>
            <a:ext cx="7525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96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(リオレイア)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543154" y="4219956"/>
            <a:ext cx="2771546" cy="761695"/>
          </a:xfrm>
          <a:prstGeom prst="roundRect">
            <a:avLst>
              <a:gd name="adj" fmla="val 12005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18"/>
          <p:cNvSpPr txBox="1"/>
          <p:nvPr/>
        </p:nvSpPr>
        <p:spPr>
          <a:xfrm>
            <a:off x="705002" y="4390949"/>
            <a:ext cx="2472538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性差 (Sex) 生物としての基本的な発現の違いを検出します。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3779215" y="1466698"/>
            <a:ext cx="4638751" cy="4401007"/>
          </a:xfrm>
          <a:prstGeom prst="roundRect">
            <a:avLst>
              <a:gd name="adj" fmla="val 720"/>
            </a:avLst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20"/>
          <p:cNvSpPr/>
          <p:nvPr/>
        </p:nvSpPr>
        <p:spPr>
          <a:xfrm>
            <a:off x="3789274" y="1476756"/>
            <a:ext cx="4619549" cy="771754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1"/>
          <p:cNvSpPr/>
          <p:nvPr/>
        </p:nvSpPr>
        <p:spPr>
          <a:xfrm>
            <a:off x="3789274" y="2239366"/>
            <a:ext cx="4619549" cy="9144"/>
          </a:xfrm>
          <a:prstGeom prst="rect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2"/>
          <p:cNvSpPr txBox="1"/>
          <p:nvPr/>
        </p:nvSpPr>
        <p:spPr>
          <a:xfrm>
            <a:off x="5527548" y="1657807"/>
            <a:ext cx="12865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3A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どこを見る？</a:t>
            </a:r>
            <a:endParaRPr lang="en-US" sz="1500" dirty="0"/>
          </a:p>
        </p:txBody>
      </p:sp>
      <p:sp>
        <p:nvSpPr>
          <p:cNvPr id="28" name="Text 23"/>
          <p:cNvSpPr txBox="1"/>
          <p:nvPr/>
        </p:nvSpPr>
        <p:spPr>
          <a:xfrm>
            <a:off x="5061204" y="1933956"/>
            <a:ext cx="21771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特徴的な3つの組織をサンプリング</a:t>
            </a:r>
            <a:endParaRPr lang="en-US" sz="1000" dirty="0"/>
          </a:p>
        </p:txBody>
      </p:sp>
      <p:sp>
        <p:nvSpPr>
          <p:cNvPr id="39" name="Shape 33"/>
          <p:cNvSpPr/>
          <p:nvPr/>
        </p:nvSpPr>
        <p:spPr>
          <a:xfrm>
            <a:off x="4017874" y="4914900"/>
            <a:ext cx="4162349" cy="9144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017874" y="5057546"/>
            <a:ext cx="114300" cy="114300"/>
          </a:xfrm>
          <a:prstGeom prst="rect">
            <a:avLst/>
          </a:prstGeom>
        </p:spPr>
      </p:pic>
      <p:sp>
        <p:nvSpPr>
          <p:cNvPr id="41" name="Text 34"/>
          <p:cNvSpPr txBox="1"/>
          <p:nvPr/>
        </p:nvSpPr>
        <p:spPr>
          <a:xfrm>
            <a:off x="4169664" y="5038344"/>
            <a:ext cx="7818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翼形成遺伝子</a:t>
            </a:r>
            <a:endParaRPr lang="en-US" sz="900" dirty="0"/>
          </a:p>
        </p:txBody>
      </p:sp>
      <p:pic>
        <p:nvPicPr>
          <p:cNvPr id="42" name="Image 5" descr="preencoded.png"/>
          <p:cNvPicPr>
            <a:picLocks noChangeAspect="1"/>
          </p:cNvPicPr>
          <p:nvPr/>
        </p:nvPicPr>
        <p:blipFill>
          <a:blip r:embed="rId7"/>
          <a:srcRect l="-2571" r="-2571"/>
          <a:stretch/>
        </p:blipFill>
        <p:spPr>
          <a:xfrm>
            <a:off x="5795467" y="5057546"/>
            <a:ext cx="105156" cy="114300"/>
          </a:xfrm>
          <a:prstGeom prst="rect">
            <a:avLst/>
          </a:prstGeom>
        </p:spPr>
      </p:pic>
      <p:sp>
        <p:nvSpPr>
          <p:cNvPr id="43" name="Text 35"/>
          <p:cNvSpPr txBox="1"/>
          <p:nvPr/>
        </p:nvSpPr>
        <p:spPr>
          <a:xfrm>
            <a:off x="5939028" y="5038344"/>
            <a:ext cx="6675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毒素遺伝子</a:t>
            </a:r>
            <a:endParaRPr lang="en-US" sz="900" dirty="0"/>
          </a:p>
        </p:txBody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450531" y="5057546"/>
            <a:ext cx="114300" cy="114300"/>
          </a:xfrm>
          <a:prstGeom prst="rect">
            <a:avLst/>
          </a:prstGeom>
        </p:spPr>
      </p:pic>
      <p:sp>
        <p:nvSpPr>
          <p:cNvPr id="45" name="Text 36"/>
          <p:cNvSpPr txBox="1"/>
          <p:nvPr/>
        </p:nvSpPr>
        <p:spPr>
          <a:xfrm>
            <a:off x="7602322" y="5038344"/>
            <a:ext cx="6675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尾棘遺伝子</a:t>
            </a:r>
            <a:endParaRPr lang="en-US" sz="900" dirty="0"/>
          </a:p>
        </p:txBody>
      </p:sp>
      <p:sp>
        <p:nvSpPr>
          <p:cNvPr id="46" name="Shape 37"/>
          <p:cNvSpPr/>
          <p:nvPr/>
        </p:nvSpPr>
        <p:spPr>
          <a:xfrm>
            <a:off x="8643823" y="1466698"/>
            <a:ext cx="3247949" cy="4401007"/>
          </a:xfrm>
          <a:prstGeom prst="roundRect">
            <a:avLst>
              <a:gd name="adj" fmla="val 1321"/>
            </a:avLst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7" name="Text 38"/>
          <p:cNvSpPr txBox="1"/>
          <p:nvPr/>
        </p:nvSpPr>
        <p:spPr>
          <a:xfrm>
            <a:off x="9694469" y="1848002"/>
            <a:ext cx="12865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何が分かる？</a:t>
            </a:r>
            <a:endParaRPr lang="en-US" sz="1500" dirty="0"/>
          </a:p>
        </p:txBody>
      </p:sp>
      <p:sp>
        <p:nvSpPr>
          <p:cNvPr id="48" name="Text 39"/>
          <p:cNvSpPr txBox="1"/>
          <p:nvPr/>
        </p:nvSpPr>
        <p:spPr>
          <a:xfrm>
            <a:off x="9531706" y="2200046"/>
            <a:ext cx="15672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遺伝子発現の違いを検証</a:t>
            </a:r>
            <a:endParaRPr lang="en-US" sz="1000" dirty="0"/>
          </a:p>
        </p:txBody>
      </p:sp>
      <p:sp>
        <p:nvSpPr>
          <p:cNvPr id="49" name="Shape 40"/>
          <p:cNvSpPr/>
          <p:nvPr/>
        </p:nvSpPr>
        <p:spPr>
          <a:xfrm>
            <a:off x="8882482" y="2619756"/>
            <a:ext cx="2771546" cy="1238098"/>
          </a:xfrm>
          <a:prstGeom prst="roundRect">
            <a:avLst>
              <a:gd name="adj" fmla="val 4545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0" name="Shape 41"/>
          <p:cNvSpPr/>
          <p:nvPr/>
        </p:nvSpPr>
        <p:spPr>
          <a:xfrm>
            <a:off x="8891626" y="3829507"/>
            <a:ext cx="2752344" cy="19202"/>
          </a:xfrm>
          <a:prstGeom prst="rect">
            <a:avLst/>
          </a:prstGeom>
          <a:solidFill>
            <a:srgbClr val="D1D5DB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51" name="Image 7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1334902" y="2704795"/>
            <a:ext cx="228600" cy="228600"/>
          </a:xfrm>
          <a:prstGeom prst="rect">
            <a:avLst/>
          </a:prstGeom>
        </p:spPr>
      </p:pic>
      <p:sp>
        <p:nvSpPr>
          <p:cNvPr id="52" name="Shape 42"/>
          <p:cNvSpPr/>
          <p:nvPr/>
        </p:nvSpPr>
        <p:spPr>
          <a:xfrm>
            <a:off x="8882482" y="4086454"/>
            <a:ext cx="2771546" cy="590702"/>
          </a:xfrm>
          <a:prstGeom prst="roundRect">
            <a:avLst>
              <a:gd name="adj" fmla="val 9987"/>
            </a:avLst>
          </a:prstGeom>
          <a:solidFill>
            <a:srgbClr val="FFFBEB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53" name="Image 8" descr="preencoded.png"/>
          <p:cNvPicPr>
            <a:picLocks noChangeAspect="1"/>
          </p:cNvPicPr>
          <p:nvPr/>
        </p:nvPicPr>
        <p:blipFill>
          <a:blip r:embed="rId10"/>
          <a:srcRect t="-100" b="-100"/>
          <a:stretch/>
        </p:blipFill>
        <p:spPr>
          <a:xfrm>
            <a:off x="9005926" y="4248302"/>
            <a:ext cx="114300" cy="152705"/>
          </a:xfrm>
          <a:prstGeom prst="rect">
            <a:avLst/>
          </a:prstGeom>
        </p:spPr>
      </p:pic>
      <p:sp>
        <p:nvSpPr>
          <p:cNvPr id="54" name="Text 43"/>
          <p:cNvSpPr txBox="1"/>
          <p:nvPr/>
        </p:nvSpPr>
        <p:spPr>
          <a:xfrm>
            <a:off x="9196121" y="4209898"/>
            <a:ext cx="7671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組織特異性</a:t>
            </a:r>
            <a:endParaRPr lang="en-US" sz="1000" dirty="0"/>
          </a:p>
        </p:txBody>
      </p:sp>
      <p:sp>
        <p:nvSpPr>
          <p:cNvPr id="55" name="Text 44"/>
          <p:cNvSpPr txBox="1"/>
          <p:nvPr/>
        </p:nvSpPr>
        <p:spPr>
          <a:xfrm>
            <a:off x="9196121" y="4390949"/>
            <a:ext cx="16962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「翼だけで働く遺伝子」を発見</a:t>
            </a:r>
            <a:endParaRPr lang="en-US" sz="900" dirty="0"/>
          </a:p>
        </p:txBody>
      </p:sp>
      <p:sp>
        <p:nvSpPr>
          <p:cNvPr id="56" name="Shape 45"/>
          <p:cNvSpPr/>
          <p:nvPr/>
        </p:nvSpPr>
        <p:spPr>
          <a:xfrm>
            <a:off x="8882482" y="4791456"/>
            <a:ext cx="2771546" cy="590702"/>
          </a:xfrm>
          <a:prstGeom prst="roundRect">
            <a:avLst>
              <a:gd name="adj" fmla="val 9987"/>
            </a:avLst>
          </a:prstGeom>
          <a:solidFill>
            <a:srgbClr val="F5F3FF"/>
          </a:solidFill>
          <a:ln w="12700">
            <a:solidFill>
              <a:srgbClr val="EDE9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57" name="Image 9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9005926" y="4953305"/>
            <a:ext cx="152705" cy="152705"/>
          </a:xfrm>
          <a:prstGeom prst="rect">
            <a:avLst/>
          </a:prstGeom>
        </p:spPr>
      </p:pic>
      <p:sp>
        <p:nvSpPr>
          <p:cNvPr id="58" name="Text 46"/>
          <p:cNvSpPr txBox="1"/>
          <p:nvPr/>
        </p:nvSpPr>
        <p:spPr>
          <a:xfrm>
            <a:off x="9234526" y="4914900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交互作用</a:t>
            </a:r>
            <a:endParaRPr lang="en-US" sz="1000" dirty="0"/>
          </a:p>
        </p:txBody>
      </p:sp>
      <p:sp>
        <p:nvSpPr>
          <p:cNvPr id="59" name="Text 47"/>
          <p:cNvSpPr txBox="1"/>
          <p:nvPr/>
        </p:nvSpPr>
        <p:spPr>
          <a:xfrm>
            <a:off x="9234526" y="5095951"/>
            <a:ext cx="18105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「メスの毒腺だけ」特異的な変化</a:t>
            </a:r>
            <a:endParaRPr lang="en-US" sz="900" dirty="0"/>
          </a:p>
        </p:txBody>
      </p:sp>
      <p:sp>
        <p:nvSpPr>
          <p:cNvPr id="60" name="Shape 48"/>
          <p:cNvSpPr/>
          <p:nvPr/>
        </p:nvSpPr>
        <p:spPr>
          <a:xfrm>
            <a:off x="304495" y="6096305"/>
            <a:ext cx="11582705" cy="457200"/>
          </a:xfrm>
          <a:prstGeom prst="roundRect">
            <a:avLst>
              <a:gd name="adj" fmla="val 3333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61" name="Image 10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428854" y="6243523"/>
            <a:ext cx="114300" cy="114300"/>
          </a:xfrm>
          <a:prstGeom prst="rect">
            <a:avLst/>
          </a:prstGeom>
        </p:spPr>
      </p:pic>
      <p:sp>
        <p:nvSpPr>
          <p:cNvPr id="62" name="Text 49"/>
          <p:cNvSpPr txBox="1"/>
          <p:nvPr/>
        </p:nvSpPr>
        <p:spPr>
          <a:xfrm>
            <a:off x="580644" y="6210605"/>
            <a:ext cx="11530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Sample breakdown:</a:t>
            </a:r>
            <a:endParaRPr lang="en-US" sz="900" dirty="0"/>
          </a:p>
        </p:txBody>
      </p:sp>
      <p:sp>
        <p:nvSpPr>
          <p:cNvPr id="63" name="Shape 50"/>
          <p:cNvSpPr/>
          <p:nvPr/>
        </p:nvSpPr>
        <p:spPr>
          <a:xfrm>
            <a:off x="1795882" y="6219749"/>
            <a:ext cx="609905" cy="209398"/>
          </a:xfrm>
          <a:prstGeom prst="roundRect">
            <a:avLst>
              <a:gd name="adj" fmla="val 79396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4" name="Text 51"/>
          <p:cNvSpPr txBox="1"/>
          <p:nvPr/>
        </p:nvSpPr>
        <p:spPr>
          <a:xfrm>
            <a:off x="1881835" y="6238951"/>
            <a:ext cx="5239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Wing (6)</a:t>
            </a:r>
            <a:endParaRPr lang="en-US" sz="900" dirty="0"/>
          </a:p>
        </p:txBody>
      </p:sp>
      <p:sp>
        <p:nvSpPr>
          <p:cNvPr id="65" name="Shape 52"/>
          <p:cNvSpPr/>
          <p:nvPr/>
        </p:nvSpPr>
        <p:spPr>
          <a:xfrm>
            <a:off x="2552090" y="6219749"/>
            <a:ext cx="533095" cy="209398"/>
          </a:xfrm>
          <a:prstGeom prst="roundRect">
            <a:avLst>
              <a:gd name="adj" fmla="val 79396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6" name="Text 53"/>
          <p:cNvSpPr txBox="1"/>
          <p:nvPr/>
        </p:nvSpPr>
        <p:spPr>
          <a:xfrm>
            <a:off x="2638044" y="6238951"/>
            <a:ext cx="4480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Tail (6)</a:t>
            </a:r>
            <a:endParaRPr lang="en-US" sz="900" dirty="0"/>
          </a:p>
        </p:txBody>
      </p:sp>
      <p:sp>
        <p:nvSpPr>
          <p:cNvPr id="67" name="Shape 54"/>
          <p:cNvSpPr/>
          <p:nvPr/>
        </p:nvSpPr>
        <p:spPr>
          <a:xfrm>
            <a:off x="3229661" y="6219749"/>
            <a:ext cx="629107" cy="209398"/>
          </a:xfrm>
          <a:prstGeom prst="roundRect">
            <a:avLst>
              <a:gd name="adj" fmla="val 79396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8" name="Text 55"/>
          <p:cNvSpPr txBox="1"/>
          <p:nvPr/>
        </p:nvSpPr>
        <p:spPr>
          <a:xfrm>
            <a:off x="3314700" y="6238951"/>
            <a:ext cx="5431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Toxin (7)</a:t>
            </a:r>
            <a:endParaRPr lang="en-US" sz="900" dirty="0"/>
          </a:p>
        </p:txBody>
      </p:sp>
      <p:sp>
        <p:nvSpPr>
          <p:cNvPr id="69" name="Shape 56"/>
          <p:cNvSpPr/>
          <p:nvPr/>
        </p:nvSpPr>
        <p:spPr>
          <a:xfrm>
            <a:off x="8502091" y="6219749"/>
            <a:ext cx="790956" cy="200254"/>
          </a:xfrm>
          <a:prstGeom prst="roundRect">
            <a:avLst>
              <a:gd name="adj" fmla="val 86975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0" name="Text 57"/>
          <p:cNvSpPr txBox="1"/>
          <p:nvPr/>
        </p:nvSpPr>
        <p:spPr>
          <a:xfrm>
            <a:off x="8578901" y="6238951"/>
            <a:ext cx="7242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D4E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Subspecies</a:t>
            </a:r>
            <a:endParaRPr lang="en-US" sz="900" dirty="0"/>
          </a:p>
        </p:txBody>
      </p:sp>
      <p:sp>
        <p:nvSpPr>
          <p:cNvPr id="71" name="Text 58"/>
          <p:cNvSpPr txBox="1"/>
          <p:nvPr/>
        </p:nvSpPr>
        <p:spPr>
          <a:xfrm>
            <a:off x="9361627" y="6238951"/>
            <a:ext cx="24963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volcanicus / sylvestris / marina の3亜種も含む</a:t>
            </a:r>
            <a:endParaRPr lang="en-US" sz="900" dirty="0"/>
          </a:p>
        </p:txBody>
      </p:sp>
      <p:sp>
        <p:nvSpPr>
          <p:cNvPr id="72" name="Shape 59"/>
          <p:cNvSpPr/>
          <p:nvPr/>
        </p:nvSpPr>
        <p:spPr>
          <a:xfrm>
            <a:off x="504749" y="1333195"/>
            <a:ext cx="761695" cy="286207"/>
          </a:xfrm>
          <a:prstGeom prst="roundRect">
            <a:avLst>
              <a:gd name="adj" fmla="val 212993"/>
            </a:avLst>
          </a:prstGeom>
          <a:solidFill>
            <a:srgbClr val="263238"/>
          </a:solidFill>
          <a:ln/>
          <a:effectLst>
            <a:outerShdw blurRad="38100" dist="254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3" name="Text 60"/>
          <p:cNvSpPr txBox="1"/>
          <p:nvPr/>
        </p:nvSpPr>
        <p:spPr>
          <a:xfrm>
            <a:off x="657454" y="1371600"/>
            <a:ext cx="56052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STEP 1</a:t>
            </a:r>
            <a:endParaRPr lang="en-US" sz="1000" dirty="0"/>
          </a:p>
        </p:txBody>
      </p:sp>
      <p:sp>
        <p:nvSpPr>
          <p:cNvPr id="74" name="Shape 61"/>
          <p:cNvSpPr/>
          <p:nvPr/>
        </p:nvSpPr>
        <p:spPr>
          <a:xfrm>
            <a:off x="3979469" y="1333195"/>
            <a:ext cx="761695" cy="286207"/>
          </a:xfrm>
          <a:prstGeom prst="roundRect">
            <a:avLst>
              <a:gd name="adj" fmla="val 212993"/>
            </a:avLst>
          </a:prstGeom>
          <a:solidFill>
            <a:srgbClr val="263238"/>
          </a:solidFill>
          <a:ln/>
          <a:effectLst>
            <a:outerShdw blurRad="38100" dist="254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5" name="Text 62"/>
          <p:cNvSpPr txBox="1"/>
          <p:nvPr/>
        </p:nvSpPr>
        <p:spPr>
          <a:xfrm>
            <a:off x="4132174" y="1371600"/>
            <a:ext cx="56052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STEP 2</a:t>
            </a:r>
            <a:endParaRPr lang="en-US" sz="1000" dirty="0"/>
          </a:p>
        </p:txBody>
      </p:sp>
      <p:sp>
        <p:nvSpPr>
          <p:cNvPr id="77" name="Shape 63"/>
          <p:cNvSpPr/>
          <p:nvPr/>
        </p:nvSpPr>
        <p:spPr>
          <a:xfrm>
            <a:off x="8844077" y="1333195"/>
            <a:ext cx="761695" cy="286207"/>
          </a:xfrm>
          <a:prstGeom prst="roundRect">
            <a:avLst>
              <a:gd name="adj" fmla="val 212993"/>
            </a:avLst>
          </a:prstGeom>
          <a:solidFill>
            <a:srgbClr val="263238"/>
          </a:solidFill>
          <a:ln/>
          <a:effectLst>
            <a:outerShdw blurRad="38100" dist="254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8" name="Text 64"/>
          <p:cNvSpPr txBox="1"/>
          <p:nvPr/>
        </p:nvSpPr>
        <p:spPr>
          <a:xfrm>
            <a:off x="8996782" y="1371600"/>
            <a:ext cx="56052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STEP 3</a:t>
            </a:r>
            <a:endParaRPr lang="en-US" sz="1000" dirty="0"/>
          </a:p>
        </p:txBody>
      </p:sp>
      <p:sp>
        <p:nvSpPr>
          <p:cNvPr id="79" name="Shape 65"/>
          <p:cNvSpPr/>
          <p:nvPr/>
        </p:nvSpPr>
        <p:spPr>
          <a:xfrm>
            <a:off x="9502445" y="2991002"/>
            <a:ext cx="304495" cy="629107"/>
          </a:xfrm>
          <a:prstGeom prst="roundRect">
            <a:avLst>
              <a:gd name="adj" fmla="val 37538"/>
            </a:avLst>
          </a:prstGeom>
          <a:solidFill>
            <a:srgbClr val="D32F2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80" name="Text 66"/>
          <p:cNvSpPr txBox="1"/>
          <p:nvPr/>
        </p:nvSpPr>
        <p:spPr>
          <a:xfrm>
            <a:off x="9479585" y="3353105"/>
            <a:ext cx="4672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High</a:t>
            </a:r>
            <a:endParaRPr lang="en-US" sz="1200" dirty="0"/>
          </a:p>
        </p:txBody>
      </p:sp>
      <p:sp>
        <p:nvSpPr>
          <p:cNvPr id="81" name="Shape 67"/>
          <p:cNvSpPr/>
          <p:nvPr/>
        </p:nvSpPr>
        <p:spPr>
          <a:xfrm>
            <a:off x="10724083" y="3409798"/>
            <a:ext cx="304495" cy="209398"/>
          </a:xfrm>
          <a:prstGeom prst="roundRect">
            <a:avLst>
              <a:gd name="adj" fmla="val 79396"/>
            </a:avLst>
          </a:prstGeom>
          <a:solidFill>
            <a:srgbClr val="388E3C">
              <a:alpha val="60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2" name="Text 68"/>
          <p:cNvSpPr txBox="1"/>
          <p:nvPr/>
        </p:nvSpPr>
        <p:spPr>
          <a:xfrm>
            <a:off x="10193731" y="3429000"/>
            <a:ext cx="2432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1D5D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vs</a:t>
            </a:r>
            <a:endParaRPr lang="en-US" sz="1000" dirty="0"/>
          </a:p>
        </p:txBody>
      </p:sp>
      <p:sp>
        <p:nvSpPr>
          <p:cNvPr id="83" name="Shape 69"/>
          <p:cNvSpPr/>
          <p:nvPr/>
        </p:nvSpPr>
        <p:spPr>
          <a:xfrm>
            <a:off x="3547872" y="3504895"/>
            <a:ext cx="190195" cy="323698"/>
          </a:xfrm>
          <a:prstGeom prst="roundRect">
            <a:avLst>
              <a:gd name="adj" fmla="val 480770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84" name="Image 12" descr="preencoded.png"/>
          <p:cNvPicPr>
            <a:picLocks noChangeAspect="1"/>
          </p:cNvPicPr>
          <p:nvPr/>
        </p:nvPicPr>
        <p:blipFill>
          <a:blip r:embed="rId13"/>
          <a:srcRect t="-180" b="-180"/>
          <a:stretch/>
        </p:blipFill>
        <p:spPr>
          <a:xfrm>
            <a:off x="3595421" y="3600907"/>
            <a:ext cx="95098" cy="152705"/>
          </a:xfrm>
          <a:prstGeom prst="rect">
            <a:avLst/>
          </a:prstGeom>
        </p:spPr>
      </p:pic>
      <p:sp>
        <p:nvSpPr>
          <p:cNvPr id="91" name="Shape 73"/>
          <p:cNvSpPr/>
          <p:nvPr/>
        </p:nvSpPr>
        <p:spPr>
          <a:xfrm>
            <a:off x="8412480" y="3504895"/>
            <a:ext cx="190195" cy="323698"/>
          </a:xfrm>
          <a:prstGeom prst="roundRect">
            <a:avLst>
              <a:gd name="adj" fmla="val 480770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92" name="Image 16" descr="preencoded.png"/>
          <p:cNvPicPr>
            <a:picLocks noChangeAspect="1"/>
          </p:cNvPicPr>
          <p:nvPr/>
        </p:nvPicPr>
        <p:blipFill>
          <a:blip r:embed="rId13"/>
          <a:srcRect t="-180" b="-180"/>
          <a:stretch/>
        </p:blipFill>
        <p:spPr>
          <a:xfrm>
            <a:off x="8460029" y="3600907"/>
            <a:ext cx="95098" cy="152705"/>
          </a:xfrm>
          <a:prstGeom prst="rect">
            <a:avLst/>
          </a:prstGeom>
        </p:spPr>
      </p:pic>
      <p:pic>
        <p:nvPicPr>
          <p:cNvPr id="97" name="図 96" descr="アイコン&#10;&#10;AI 生成コンテンツは誤りを含む可能性があります。">
            <a:extLst>
              <a:ext uri="{FF2B5EF4-FFF2-40B4-BE49-F238E27FC236}">
                <a16:creationId xmlns:a16="http://schemas.microsoft.com/office/drawing/2014/main" id="{936FC174-D59B-9C37-98AD-41680E9F329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065583" y="2965634"/>
            <a:ext cx="2280947" cy="1803761"/>
          </a:xfrm>
          <a:prstGeom prst="rect">
            <a:avLst/>
          </a:prstGeom>
        </p:spPr>
      </p:pic>
      <p:grpSp>
        <p:nvGrpSpPr>
          <p:cNvPr id="98" name="グループ化 97">
            <a:extLst>
              <a:ext uri="{FF2B5EF4-FFF2-40B4-BE49-F238E27FC236}">
                <a16:creationId xmlns:a16="http://schemas.microsoft.com/office/drawing/2014/main" id="{CA17728D-FC7C-F764-C770-DDE4BBDD4695}"/>
              </a:ext>
            </a:extLst>
          </p:cNvPr>
          <p:cNvGrpSpPr/>
          <p:nvPr/>
        </p:nvGrpSpPr>
        <p:grpSpPr>
          <a:xfrm>
            <a:off x="4157777" y="2781605"/>
            <a:ext cx="3876142" cy="1876349"/>
            <a:chOff x="4157777" y="2781605"/>
            <a:chExt cx="3876142" cy="1876349"/>
          </a:xfrm>
        </p:grpSpPr>
        <p:sp>
          <p:nvSpPr>
            <p:cNvPr id="30" name="Shape 24"/>
            <p:cNvSpPr/>
            <p:nvPr/>
          </p:nvSpPr>
          <p:spPr>
            <a:xfrm>
              <a:off x="4157777" y="2915107"/>
              <a:ext cx="961949" cy="448056"/>
            </a:xfrm>
            <a:prstGeom prst="roundRect">
              <a:avLst>
                <a:gd name="adj" fmla="val 17369"/>
              </a:avLst>
            </a:prstGeom>
            <a:solidFill>
              <a:srgbClr val="FFFFFF">
                <a:alpha val="95000"/>
              </a:srgbClr>
            </a:solidFill>
            <a:ln w="12700">
              <a:solidFill>
                <a:srgbClr val="ECEFF1"/>
              </a:solidFill>
              <a:prstDash val="solid"/>
            </a:ln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1" name="Text 25"/>
            <p:cNvSpPr txBox="1"/>
            <p:nvPr/>
          </p:nvSpPr>
          <p:spPr>
            <a:xfrm>
              <a:off x="4282135" y="2952598"/>
              <a:ext cx="600761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B91C1C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翼 (Wing)</a:t>
              </a:r>
              <a:endParaRPr lang="en-US" sz="900" dirty="0"/>
            </a:p>
          </p:txBody>
        </p:sp>
        <p:sp>
          <p:nvSpPr>
            <p:cNvPr id="32" name="Text 26"/>
            <p:cNvSpPr txBox="1"/>
            <p:nvPr/>
          </p:nvSpPr>
          <p:spPr>
            <a:xfrm>
              <a:off x="4282135" y="3114446"/>
              <a:ext cx="811987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B91C1C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オスで発達?</a:t>
              </a:r>
              <a:endParaRPr lang="en-US" sz="1000" dirty="0"/>
            </a:p>
          </p:txBody>
        </p:sp>
        <p:sp>
          <p:nvSpPr>
            <p:cNvPr id="33" name="Shape 27"/>
            <p:cNvSpPr/>
            <p:nvPr/>
          </p:nvSpPr>
          <p:spPr>
            <a:xfrm>
              <a:off x="7071970" y="3981298"/>
              <a:ext cx="961949" cy="448056"/>
            </a:xfrm>
            <a:prstGeom prst="roundRect">
              <a:avLst>
                <a:gd name="adj" fmla="val 17369"/>
              </a:avLst>
            </a:prstGeom>
            <a:solidFill>
              <a:srgbClr val="FFFFFF">
                <a:alpha val="95000"/>
              </a:srgbClr>
            </a:solidFill>
            <a:ln w="12700">
              <a:solidFill>
                <a:srgbClr val="ECEFF1"/>
              </a:solidFill>
              <a:prstDash val="solid"/>
            </a:ln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4" name="Text 28"/>
            <p:cNvSpPr txBox="1"/>
            <p:nvPr/>
          </p:nvSpPr>
          <p:spPr>
            <a:xfrm>
              <a:off x="7195414" y="4019702"/>
              <a:ext cx="629107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065F46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尾棘 (Tail)</a:t>
              </a:r>
              <a:endParaRPr lang="en-US" sz="900" dirty="0"/>
            </a:p>
          </p:txBody>
        </p:sp>
        <p:sp>
          <p:nvSpPr>
            <p:cNvPr id="35" name="Text 29"/>
            <p:cNvSpPr txBox="1"/>
            <p:nvPr/>
          </p:nvSpPr>
          <p:spPr>
            <a:xfrm>
              <a:off x="7195414" y="4181551"/>
              <a:ext cx="811987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065F46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メスで発達?</a:t>
              </a:r>
              <a:endParaRPr lang="en-US" sz="1000" dirty="0"/>
            </a:p>
          </p:txBody>
        </p:sp>
        <p:sp>
          <p:nvSpPr>
            <p:cNvPr id="36" name="Shape 30"/>
            <p:cNvSpPr/>
            <p:nvPr/>
          </p:nvSpPr>
          <p:spPr>
            <a:xfrm>
              <a:off x="6354166" y="2781605"/>
              <a:ext cx="895198" cy="448056"/>
            </a:xfrm>
            <a:prstGeom prst="roundRect">
              <a:avLst>
                <a:gd name="adj" fmla="val 17369"/>
              </a:avLst>
            </a:prstGeom>
            <a:solidFill>
              <a:srgbClr val="FFFFFF">
                <a:alpha val="95000"/>
              </a:srgbClr>
            </a:solidFill>
            <a:ln w="12700">
              <a:solidFill>
                <a:srgbClr val="ECEFF1"/>
              </a:solidFill>
              <a:prstDash val="solid"/>
            </a:ln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7" name="Text 31"/>
            <p:cNvSpPr txBox="1"/>
            <p:nvPr/>
          </p:nvSpPr>
          <p:spPr>
            <a:xfrm>
              <a:off x="6478524" y="2819095"/>
              <a:ext cx="734263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6D28D9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毒腺 (Toxin)</a:t>
              </a:r>
              <a:endParaRPr lang="en-US" sz="900" dirty="0"/>
            </a:p>
          </p:txBody>
        </p:sp>
        <p:sp>
          <p:nvSpPr>
            <p:cNvPr id="38" name="Text 32"/>
            <p:cNvSpPr txBox="1"/>
            <p:nvPr/>
          </p:nvSpPr>
          <p:spPr>
            <a:xfrm>
              <a:off x="6478524" y="2980944"/>
              <a:ext cx="745236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6D28D9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組織特異的</a:t>
              </a:r>
              <a:endParaRPr lang="en-US" sz="1000" dirty="0"/>
            </a:p>
          </p:txBody>
        </p:sp>
        <p:grpSp>
          <p:nvGrpSpPr>
            <p:cNvPr id="93" name="グループ化 92">
              <a:extLst>
                <a:ext uri="{FF2B5EF4-FFF2-40B4-BE49-F238E27FC236}">
                  <a16:creationId xmlns:a16="http://schemas.microsoft.com/office/drawing/2014/main" id="{EBA054AC-EC37-16CF-0E2C-D1F57B90FA7E}"/>
                </a:ext>
              </a:extLst>
            </p:cNvPr>
            <p:cNvGrpSpPr/>
            <p:nvPr/>
          </p:nvGrpSpPr>
          <p:grpSpPr>
            <a:xfrm>
              <a:off x="5043830" y="3011120"/>
              <a:ext cx="418795" cy="418795"/>
              <a:chOff x="4924044" y="3029407"/>
              <a:chExt cx="418795" cy="418795"/>
            </a:xfrm>
          </p:grpSpPr>
          <p:sp>
            <p:nvSpPr>
              <p:cNvPr id="85" name="Shape 70"/>
              <p:cNvSpPr/>
              <p:nvPr/>
            </p:nvSpPr>
            <p:spPr>
              <a:xfrm>
                <a:off x="4924044" y="3029407"/>
                <a:ext cx="418795" cy="418795"/>
              </a:xfrm>
              <a:prstGeom prst="ellipse">
                <a:avLst/>
              </a:prstGeom>
              <a:solidFill>
                <a:srgbClr val="FFFFFF"/>
              </a:solidFill>
              <a:ln w="25400">
                <a:solidFill>
                  <a:srgbClr val="DC2626"/>
                </a:solidFill>
                <a:prstDash val="solid"/>
              </a:ln>
              <a:effectLst>
                <a:outerShdw blurRad="12700" dist="12700" dir="16200000" algn="bl" rotWithShape="0">
                  <a:srgbClr val="000000">
                    <a:alpha val="400"/>
                  </a:srgbClr>
                </a:outerShdw>
              </a:effectLst>
            </p:spPr>
            <p:txBody>
              <a:bodyPr/>
              <a:lstStyle/>
              <a:p>
                <a:endParaRPr lang="ja-JP" altLang="en-US"/>
              </a:p>
            </p:txBody>
          </p:sp>
          <p:pic>
            <p:nvPicPr>
              <p:cNvPr id="86" name="Image 13" descr="preencoded.png"/>
              <p:cNvPicPr>
                <a:picLocks noChangeAspect="1"/>
              </p:cNvPicPr>
              <p:nvPr/>
            </p:nvPicPr>
            <p:blipFill>
              <a:blip r:embed="rId15"/>
              <a:srcRect/>
              <a:stretch/>
            </p:blipFill>
            <p:spPr>
              <a:xfrm>
                <a:off x="5043830" y="3149194"/>
                <a:ext cx="181051" cy="181051"/>
              </a:xfrm>
              <a:prstGeom prst="rect">
                <a:avLst/>
              </a:prstGeom>
            </p:spPr>
          </p:pic>
        </p:grpSp>
        <p:grpSp>
          <p:nvGrpSpPr>
            <p:cNvPr id="95" name="グループ化 94">
              <a:extLst>
                <a:ext uri="{FF2B5EF4-FFF2-40B4-BE49-F238E27FC236}">
                  <a16:creationId xmlns:a16="http://schemas.microsoft.com/office/drawing/2014/main" id="{219DB544-9EEC-30A7-44F0-D56BFD29F04B}"/>
                </a:ext>
              </a:extLst>
            </p:cNvPr>
            <p:cNvGrpSpPr/>
            <p:nvPr/>
          </p:nvGrpSpPr>
          <p:grpSpPr>
            <a:xfrm>
              <a:off x="6640372" y="4239159"/>
              <a:ext cx="418795" cy="418795"/>
              <a:chOff x="6849770" y="3829507"/>
              <a:chExt cx="418795" cy="418795"/>
            </a:xfrm>
          </p:grpSpPr>
          <p:sp>
            <p:nvSpPr>
              <p:cNvPr id="87" name="Shape 71"/>
              <p:cNvSpPr/>
              <p:nvPr/>
            </p:nvSpPr>
            <p:spPr>
              <a:xfrm>
                <a:off x="6849770" y="3829507"/>
                <a:ext cx="418795" cy="418795"/>
              </a:xfrm>
              <a:prstGeom prst="ellipse">
                <a:avLst/>
              </a:prstGeom>
              <a:solidFill>
                <a:srgbClr val="FFFFFF"/>
              </a:solidFill>
              <a:ln w="25400">
                <a:solidFill>
                  <a:srgbClr val="047857"/>
                </a:solidFill>
                <a:prstDash val="solid"/>
              </a:ln>
              <a:effectLst>
                <a:outerShdw blurRad="12700" dist="12700" dir="16200000" algn="bl" rotWithShape="0">
                  <a:srgbClr val="000000">
                    <a:alpha val="400"/>
                  </a:srgbClr>
                </a:outerShdw>
              </a:effectLst>
            </p:spPr>
            <p:txBody>
              <a:bodyPr/>
              <a:lstStyle/>
              <a:p>
                <a:endParaRPr lang="ja-JP" altLang="en-US"/>
              </a:p>
            </p:txBody>
          </p:sp>
          <p:pic>
            <p:nvPicPr>
              <p:cNvPr id="88" name="Image 14" descr="preencoded.png"/>
              <p:cNvPicPr>
                <a:picLocks noChangeAspect="1"/>
              </p:cNvPicPr>
              <p:nvPr/>
            </p:nvPicPr>
            <p:blipFill>
              <a:blip r:embed="rId16"/>
              <a:srcRect/>
              <a:stretch/>
            </p:blipFill>
            <p:spPr>
              <a:xfrm>
                <a:off x="6970471" y="3949294"/>
                <a:ext cx="181051" cy="181051"/>
              </a:xfrm>
              <a:prstGeom prst="rect">
                <a:avLst/>
              </a:prstGeom>
            </p:spPr>
          </p:pic>
        </p:grpSp>
        <p:grpSp>
          <p:nvGrpSpPr>
            <p:cNvPr id="94" name="グループ化 93">
              <a:extLst>
                <a:ext uri="{FF2B5EF4-FFF2-40B4-BE49-F238E27FC236}">
                  <a16:creationId xmlns:a16="http://schemas.microsoft.com/office/drawing/2014/main" id="{19404B81-DFA5-DA42-771B-FE5E93CA7DAA}"/>
                </a:ext>
              </a:extLst>
            </p:cNvPr>
            <p:cNvGrpSpPr/>
            <p:nvPr/>
          </p:nvGrpSpPr>
          <p:grpSpPr>
            <a:xfrm>
              <a:off x="6387998" y="3162910"/>
              <a:ext cx="418795" cy="418795"/>
              <a:chOff x="6387998" y="3162910"/>
              <a:chExt cx="418795" cy="418795"/>
            </a:xfrm>
          </p:grpSpPr>
          <p:sp>
            <p:nvSpPr>
              <p:cNvPr id="89" name="Shape 72"/>
              <p:cNvSpPr/>
              <p:nvPr/>
            </p:nvSpPr>
            <p:spPr>
              <a:xfrm>
                <a:off x="6387998" y="3162910"/>
                <a:ext cx="418795" cy="418795"/>
              </a:xfrm>
              <a:prstGeom prst="ellipse">
                <a:avLst/>
              </a:prstGeom>
              <a:solidFill>
                <a:srgbClr val="FFFFFF"/>
              </a:solidFill>
              <a:ln w="25400">
                <a:solidFill>
                  <a:srgbClr val="7C3AED"/>
                </a:solidFill>
                <a:prstDash val="solid"/>
              </a:ln>
              <a:effectLst>
                <a:outerShdw blurRad="12700" dist="12700" dir="16200000" algn="bl" rotWithShape="0">
                  <a:srgbClr val="000000">
                    <a:alpha val="400"/>
                  </a:srgbClr>
                </a:outerShdw>
              </a:effectLst>
            </p:spPr>
            <p:txBody>
              <a:bodyPr/>
              <a:lstStyle/>
              <a:p>
                <a:endParaRPr lang="ja-JP" altLang="en-US"/>
              </a:p>
            </p:txBody>
          </p:sp>
          <p:pic>
            <p:nvPicPr>
              <p:cNvPr id="90" name="Image 15" descr="preencoded.png"/>
              <p:cNvPicPr>
                <a:picLocks noChangeAspect="1"/>
              </p:cNvPicPr>
              <p:nvPr/>
            </p:nvPicPr>
            <p:blipFill>
              <a:blip r:embed="rId17"/>
              <a:srcRect l="-1082" r="-1082"/>
              <a:stretch/>
            </p:blipFill>
            <p:spPr>
              <a:xfrm>
                <a:off x="6518758" y="3282696"/>
                <a:ext cx="161849" cy="181051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304495" y="1143000"/>
            <a:ext cx="1158270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 txBox="1"/>
          <p:nvPr/>
        </p:nvSpPr>
        <p:spPr>
          <a:xfrm>
            <a:off x="304495" y="267005"/>
            <a:ext cx="4062679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図4 遺伝子発現の具体的な違い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304495" y="733349"/>
            <a:ext cx="72539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シミュレーションの結果、オスとメスで発現量はどう違うのか？（代表的な3遺伝子の比較）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443009" y="629107"/>
            <a:ext cx="2447849" cy="362102"/>
          </a:xfrm>
          <a:prstGeom prst="roundRect">
            <a:avLst>
              <a:gd name="adj" fmla="val 53163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9604858" y="752551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D32F2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9795967" y="714146"/>
            <a:ext cx="8147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Male (オス)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0658246" y="752551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388E3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 txBox="1"/>
          <p:nvPr/>
        </p:nvSpPr>
        <p:spPr>
          <a:xfrm>
            <a:off x="10848442" y="714146"/>
            <a:ext cx="9866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Female (メス)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04495" y="1954073"/>
            <a:ext cx="11582705" cy="1218895"/>
          </a:xfrm>
          <a:prstGeom prst="roundRect">
            <a:avLst>
              <a:gd name="adj" fmla="val 9377"/>
            </a:avLst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314554" y="1963217"/>
            <a:ext cx="75895" cy="1200607"/>
          </a:xfrm>
          <a:prstGeom prst="rect">
            <a:avLst/>
          </a:prstGeom>
          <a:solidFill>
            <a:srgbClr val="D32F2F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9049" y="2199132"/>
            <a:ext cx="190195" cy="190195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886054" y="2209190"/>
            <a:ext cx="4480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翼形成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619049" y="2418588"/>
            <a:ext cx="14383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翼遺伝子BMP1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619049" y="2733142"/>
            <a:ext cx="10341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翼軟骨形成因子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3230388" y="2654504"/>
            <a:ext cx="35295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63238">
                    <a:alpha val="3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メス翼</a:t>
            </a:r>
            <a:endParaRPr lang="en-US" sz="9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>
            <a:alphaModFix amt="30000"/>
          </a:blip>
          <a:srcRect l="-333" r="-333"/>
          <a:stretch/>
        </p:blipFill>
        <p:spPr>
          <a:xfrm>
            <a:off x="3266237" y="2382926"/>
            <a:ext cx="276149" cy="219456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5106924" y="2093062"/>
            <a:ext cx="16486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オス翼での発現量比較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10065715" y="2039112"/>
            <a:ext cx="1438351" cy="286207"/>
          </a:xfrm>
          <a:prstGeom prst="roundRect">
            <a:avLst>
              <a:gd name="adj" fmla="val 212993"/>
            </a:avLst>
          </a:prstGeom>
          <a:solidFill>
            <a:srgbClr val="D32F2F"/>
          </a:solidFill>
          <a:ln/>
          <a:effectLst>
            <a:outerShdw blurRad="38100" dist="25400" dir="5400000" algn="bl" rotWithShape="0">
              <a:srgbClr val="D32F2F">
                <a:alpha val="3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rcRect l="-2512" r="-2512"/>
          <a:stretch/>
        </p:blipFill>
        <p:spPr>
          <a:xfrm>
            <a:off x="10180015" y="2114093"/>
            <a:ext cx="105156" cy="133502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10341864" y="2077517"/>
            <a:ext cx="115123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オスで約2倍高い</a:t>
            </a:r>
            <a:endParaRPr lang="en-US" sz="1000" dirty="0"/>
          </a:p>
        </p:txBody>
      </p:sp>
      <p:sp>
        <p:nvSpPr>
          <p:cNvPr id="24" name="Text 19"/>
          <p:cNvSpPr txBox="1"/>
          <p:nvPr/>
        </p:nvSpPr>
        <p:spPr>
          <a:xfrm>
            <a:off x="5335524" y="2464308"/>
            <a:ext cx="3246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オス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5678424" y="2397557"/>
            <a:ext cx="5820156" cy="304495"/>
          </a:xfrm>
          <a:prstGeom prst="roundRect">
            <a:avLst>
              <a:gd name="adj" fmla="val 300300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1"/>
          <p:cNvSpPr/>
          <p:nvPr/>
        </p:nvSpPr>
        <p:spPr>
          <a:xfrm>
            <a:off x="5678424" y="2397557"/>
            <a:ext cx="4953305" cy="304495"/>
          </a:xfrm>
          <a:prstGeom prst="rect">
            <a:avLst/>
          </a:prstGeom>
          <a:solidFill>
            <a:srgbClr val="D32F2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2"/>
          <p:cNvSpPr txBox="1"/>
          <p:nvPr/>
        </p:nvSpPr>
        <p:spPr>
          <a:xfrm>
            <a:off x="9835286" y="2454250"/>
            <a:ext cx="7763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TPM: ~520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5335524" y="2844698"/>
            <a:ext cx="3246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メス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5678424" y="2778862"/>
            <a:ext cx="5820156" cy="304495"/>
          </a:xfrm>
          <a:prstGeom prst="roundRect">
            <a:avLst>
              <a:gd name="adj" fmla="val 300300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25"/>
          <p:cNvSpPr/>
          <p:nvPr/>
        </p:nvSpPr>
        <p:spPr>
          <a:xfrm>
            <a:off x="5678424" y="2778862"/>
            <a:ext cx="875995" cy="304495"/>
          </a:xfrm>
          <a:prstGeom prst="rect">
            <a:avLst/>
          </a:prstGeom>
          <a:solidFill>
            <a:srgbClr val="388E3C">
              <a:alpha val="40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6"/>
          <p:cNvSpPr txBox="1"/>
          <p:nvPr/>
        </p:nvSpPr>
        <p:spPr>
          <a:xfrm>
            <a:off x="5678424" y="2844698"/>
            <a:ext cx="6007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TPM: ~70</a:t>
            </a:r>
            <a:endParaRPr lang="en-US" sz="900" dirty="0"/>
          </a:p>
        </p:txBody>
      </p:sp>
      <p:sp>
        <p:nvSpPr>
          <p:cNvPr id="32" name="Shape 27"/>
          <p:cNvSpPr/>
          <p:nvPr/>
        </p:nvSpPr>
        <p:spPr>
          <a:xfrm>
            <a:off x="304495" y="3359506"/>
            <a:ext cx="11582705" cy="1218895"/>
          </a:xfrm>
          <a:prstGeom prst="roundRect">
            <a:avLst>
              <a:gd name="adj" fmla="val 9377"/>
            </a:avLst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3" name="Shape 28"/>
          <p:cNvSpPr/>
          <p:nvPr/>
        </p:nvSpPr>
        <p:spPr>
          <a:xfrm>
            <a:off x="314554" y="3368650"/>
            <a:ext cx="75895" cy="1200607"/>
          </a:xfrm>
          <a:prstGeom prst="rect">
            <a:avLst/>
          </a:prstGeom>
          <a:solidFill>
            <a:srgbClr val="388E3C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6"/>
          <a:srcRect l="-1648" r="-1648"/>
          <a:stretch/>
        </p:blipFill>
        <p:spPr>
          <a:xfrm>
            <a:off x="619049" y="3605479"/>
            <a:ext cx="171907" cy="190195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866851" y="3614623"/>
            <a:ext cx="3337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毒腺</a:t>
            </a:r>
            <a:endParaRPr lang="en-US" sz="900" dirty="0"/>
          </a:p>
        </p:txBody>
      </p:sp>
      <p:sp>
        <p:nvSpPr>
          <p:cNvPr id="36" name="Text 30"/>
          <p:cNvSpPr txBox="1"/>
          <p:nvPr/>
        </p:nvSpPr>
        <p:spPr>
          <a:xfrm>
            <a:off x="619049" y="3824021"/>
            <a:ext cx="11430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毒遺伝子A1</a:t>
            </a:r>
            <a:endParaRPr lang="en-US" sz="1500" dirty="0"/>
          </a:p>
        </p:txBody>
      </p:sp>
      <p:sp>
        <p:nvSpPr>
          <p:cNvPr id="37" name="Text 31"/>
          <p:cNvSpPr txBox="1"/>
          <p:nvPr/>
        </p:nvSpPr>
        <p:spPr>
          <a:xfrm>
            <a:off x="619049" y="4138574"/>
            <a:ext cx="11192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毒素タンパク質A</a:t>
            </a:r>
            <a:endParaRPr lang="en-US" sz="1000" dirty="0"/>
          </a:p>
        </p:txBody>
      </p:sp>
      <p:sp>
        <p:nvSpPr>
          <p:cNvPr id="38" name="Text 32"/>
          <p:cNvSpPr txBox="1"/>
          <p:nvPr/>
        </p:nvSpPr>
        <p:spPr>
          <a:xfrm>
            <a:off x="3940407" y="4053078"/>
            <a:ext cx="564607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63238">
                    <a:alpha val="3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オス毒腺</a:t>
            </a:r>
            <a:endParaRPr lang="en-US" sz="900" dirty="0"/>
          </a:p>
        </p:txBody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7">
            <a:alphaModFix amt="30000"/>
          </a:blip>
          <a:srcRect l="-333" r="-333"/>
          <a:stretch/>
        </p:blipFill>
        <p:spPr>
          <a:xfrm>
            <a:off x="4078224" y="3788359"/>
            <a:ext cx="276149" cy="219456"/>
          </a:xfrm>
          <a:prstGeom prst="rect">
            <a:avLst/>
          </a:prstGeom>
        </p:spPr>
      </p:pic>
      <p:sp>
        <p:nvSpPr>
          <p:cNvPr id="40" name="Text 33"/>
          <p:cNvSpPr txBox="1"/>
          <p:nvPr/>
        </p:nvSpPr>
        <p:spPr>
          <a:xfrm>
            <a:off x="5106924" y="3498494"/>
            <a:ext cx="18004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メス毒腺での発現量比較</a:t>
            </a:r>
            <a:endParaRPr lang="en-US" sz="1200" dirty="0"/>
          </a:p>
        </p:txBody>
      </p:sp>
      <p:sp>
        <p:nvSpPr>
          <p:cNvPr id="41" name="Shape 34"/>
          <p:cNvSpPr/>
          <p:nvPr/>
        </p:nvSpPr>
        <p:spPr>
          <a:xfrm>
            <a:off x="9848088" y="3445459"/>
            <a:ext cx="1657807" cy="286207"/>
          </a:xfrm>
          <a:prstGeom prst="roundRect">
            <a:avLst>
              <a:gd name="adj" fmla="val 212993"/>
            </a:avLst>
          </a:prstGeom>
          <a:solidFill>
            <a:srgbClr val="388E3C"/>
          </a:solidFill>
          <a:ln/>
          <a:effectLst>
            <a:outerShdw blurRad="38100" dist="25400" dir="5400000" algn="bl" rotWithShape="0">
              <a:srgbClr val="388E3C">
                <a:alpha val="3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42" name="Image 5" descr="preencoded.png"/>
          <p:cNvPicPr>
            <a:picLocks noChangeAspect="1"/>
          </p:cNvPicPr>
          <p:nvPr/>
        </p:nvPicPr>
        <p:blipFill>
          <a:blip r:embed="rId5"/>
          <a:srcRect l="-2512" r="-2512"/>
          <a:stretch/>
        </p:blipFill>
        <p:spPr>
          <a:xfrm>
            <a:off x="9962388" y="3519526"/>
            <a:ext cx="105156" cy="133502"/>
          </a:xfrm>
          <a:prstGeom prst="rect">
            <a:avLst/>
          </a:prstGeom>
        </p:spPr>
      </p:pic>
      <p:sp>
        <p:nvSpPr>
          <p:cNvPr id="43" name="Text 35"/>
          <p:cNvSpPr txBox="1"/>
          <p:nvPr/>
        </p:nvSpPr>
        <p:spPr>
          <a:xfrm>
            <a:off x="10124237" y="3482950"/>
            <a:ext cx="136977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メスで10倍以上高い</a:t>
            </a:r>
            <a:endParaRPr lang="en-US" sz="1000" dirty="0"/>
          </a:p>
        </p:txBody>
      </p:sp>
      <p:sp>
        <p:nvSpPr>
          <p:cNvPr id="44" name="Text 36"/>
          <p:cNvSpPr txBox="1"/>
          <p:nvPr/>
        </p:nvSpPr>
        <p:spPr>
          <a:xfrm>
            <a:off x="5335524" y="3869741"/>
            <a:ext cx="3246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オス</a:t>
            </a:r>
            <a:endParaRPr lang="en-US" sz="900" dirty="0"/>
          </a:p>
        </p:txBody>
      </p:sp>
      <p:sp>
        <p:nvSpPr>
          <p:cNvPr id="45" name="Shape 37"/>
          <p:cNvSpPr/>
          <p:nvPr/>
        </p:nvSpPr>
        <p:spPr>
          <a:xfrm>
            <a:off x="5678424" y="3802990"/>
            <a:ext cx="5820156" cy="304495"/>
          </a:xfrm>
          <a:prstGeom prst="roundRect">
            <a:avLst>
              <a:gd name="adj" fmla="val 300300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6" name="Shape 38"/>
          <p:cNvSpPr/>
          <p:nvPr/>
        </p:nvSpPr>
        <p:spPr>
          <a:xfrm>
            <a:off x="5678424" y="3802990"/>
            <a:ext cx="466344" cy="304495"/>
          </a:xfrm>
          <a:prstGeom prst="rect">
            <a:avLst/>
          </a:prstGeom>
          <a:solidFill>
            <a:srgbClr val="D32F2F">
              <a:alpha val="30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7" name="Text 39"/>
          <p:cNvSpPr txBox="1"/>
          <p:nvPr/>
        </p:nvSpPr>
        <p:spPr>
          <a:xfrm>
            <a:off x="5678424" y="3869741"/>
            <a:ext cx="6007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TPM: ~35</a:t>
            </a:r>
            <a:endParaRPr lang="en-US" sz="900" dirty="0"/>
          </a:p>
        </p:txBody>
      </p:sp>
      <p:sp>
        <p:nvSpPr>
          <p:cNvPr id="48" name="Text 40"/>
          <p:cNvSpPr txBox="1"/>
          <p:nvPr/>
        </p:nvSpPr>
        <p:spPr>
          <a:xfrm>
            <a:off x="5335524" y="4251046"/>
            <a:ext cx="3246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メス</a:t>
            </a:r>
            <a:endParaRPr lang="en-US" sz="900" dirty="0"/>
          </a:p>
        </p:txBody>
      </p:sp>
      <p:sp>
        <p:nvSpPr>
          <p:cNvPr id="49" name="Shape 41"/>
          <p:cNvSpPr/>
          <p:nvPr/>
        </p:nvSpPr>
        <p:spPr>
          <a:xfrm>
            <a:off x="5678424" y="4184294"/>
            <a:ext cx="5820156" cy="304495"/>
          </a:xfrm>
          <a:prstGeom prst="roundRect">
            <a:avLst>
              <a:gd name="adj" fmla="val 300300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0" name="Shape 42"/>
          <p:cNvSpPr/>
          <p:nvPr/>
        </p:nvSpPr>
        <p:spPr>
          <a:xfrm>
            <a:off x="5678424" y="4184294"/>
            <a:ext cx="5533949" cy="304495"/>
          </a:xfrm>
          <a:prstGeom prst="rect">
            <a:avLst/>
          </a:prstGeom>
          <a:solidFill>
            <a:srgbClr val="388E3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1" name="Text 43"/>
          <p:cNvSpPr txBox="1"/>
          <p:nvPr/>
        </p:nvSpPr>
        <p:spPr>
          <a:xfrm>
            <a:off x="10416845" y="4241902"/>
            <a:ext cx="7763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TPM: ~540</a:t>
            </a:r>
            <a:endParaRPr lang="en-US" sz="1000" dirty="0"/>
          </a:p>
        </p:txBody>
      </p:sp>
      <p:sp>
        <p:nvSpPr>
          <p:cNvPr id="52" name="Shape 44"/>
          <p:cNvSpPr/>
          <p:nvPr/>
        </p:nvSpPr>
        <p:spPr>
          <a:xfrm>
            <a:off x="304495" y="4764938"/>
            <a:ext cx="11582705" cy="1218895"/>
          </a:xfrm>
          <a:prstGeom prst="roundRect">
            <a:avLst>
              <a:gd name="adj" fmla="val 9377"/>
            </a:avLst>
          </a:prstGeom>
          <a:solidFill>
            <a:srgbClr val="F9FAFB"/>
          </a:solidFill>
          <a:ln w="12700">
            <a:solidFill>
              <a:srgbClr val="ECEFF1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3" name="Shape 45"/>
          <p:cNvSpPr/>
          <p:nvPr/>
        </p:nvSpPr>
        <p:spPr>
          <a:xfrm>
            <a:off x="314554" y="4774997"/>
            <a:ext cx="75895" cy="1200607"/>
          </a:xfrm>
          <a:prstGeom prst="rect">
            <a:avLst/>
          </a:prstGeom>
          <a:solidFill>
            <a:srgbClr val="78909C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54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19049" y="5010912"/>
            <a:ext cx="237744" cy="190195"/>
          </a:xfrm>
          <a:prstGeom prst="rect">
            <a:avLst/>
          </a:prstGeom>
        </p:spPr>
      </p:pic>
      <p:sp>
        <p:nvSpPr>
          <p:cNvPr id="55" name="Text 46"/>
          <p:cNvSpPr txBox="1"/>
          <p:nvPr/>
        </p:nvSpPr>
        <p:spPr>
          <a:xfrm>
            <a:off x="933602" y="5020970"/>
            <a:ext cx="6958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基準遺伝子</a:t>
            </a:r>
            <a:endParaRPr lang="en-US" sz="900" dirty="0"/>
          </a:p>
        </p:txBody>
      </p:sp>
      <p:sp>
        <p:nvSpPr>
          <p:cNvPr id="56" name="Text 47"/>
          <p:cNvSpPr txBox="1"/>
          <p:nvPr/>
        </p:nvSpPr>
        <p:spPr>
          <a:xfrm>
            <a:off x="619049" y="5230368"/>
            <a:ext cx="20007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基準遺伝子(アクチン)</a:t>
            </a:r>
            <a:endParaRPr lang="en-US" sz="1500" dirty="0"/>
          </a:p>
        </p:txBody>
      </p:sp>
      <p:sp>
        <p:nvSpPr>
          <p:cNvPr id="57" name="Text 48"/>
          <p:cNvSpPr txBox="1"/>
          <p:nvPr/>
        </p:nvSpPr>
        <p:spPr>
          <a:xfrm>
            <a:off x="619049" y="5544007"/>
            <a:ext cx="11676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ハウスキーピング</a:t>
            </a:r>
            <a:endParaRPr lang="en-US" sz="1000" dirty="0"/>
          </a:p>
        </p:txBody>
      </p:sp>
      <p:pic>
        <p:nvPicPr>
          <p:cNvPr id="58" name="Image 7" descr="preencoded.png"/>
          <p:cNvPicPr>
            <a:picLocks noChangeAspect="1"/>
          </p:cNvPicPr>
          <p:nvPr/>
        </p:nvPicPr>
        <p:blipFill>
          <a:blip r:embed="rId9">
            <a:alphaModFix amt="80000"/>
          </a:blip>
          <a:srcRect t="-24" b="-24"/>
          <a:stretch/>
        </p:blipFill>
        <p:spPr>
          <a:xfrm>
            <a:off x="3193999" y="5182819"/>
            <a:ext cx="476402" cy="381305"/>
          </a:xfrm>
          <a:prstGeom prst="rect">
            <a:avLst/>
          </a:prstGeom>
        </p:spPr>
      </p:pic>
      <p:sp>
        <p:nvSpPr>
          <p:cNvPr id="59" name="Text 49"/>
          <p:cNvSpPr txBox="1"/>
          <p:nvPr/>
        </p:nvSpPr>
        <p:spPr>
          <a:xfrm>
            <a:off x="3746297" y="5201107"/>
            <a:ext cx="31455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=</a:t>
            </a:r>
            <a:endParaRPr lang="en-US" sz="1800" dirty="0"/>
          </a:p>
        </p:txBody>
      </p:sp>
      <p:pic>
        <p:nvPicPr>
          <p:cNvPr id="60" name="Image 8" descr="preencoded.png"/>
          <p:cNvPicPr>
            <a:picLocks noChangeAspect="1"/>
          </p:cNvPicPr>
          <p:nvPr/>
        </p:nvPicPr>
        <p:blipFill>
          <a:blip r:embed="rId10">
            <a:alphaModFix amt="80000"/>
          </a:blip>
          <a:srcRect t="-24" b="-24"/>
          <a:stretch/>
        </p:blipFill>
        <p:spPr>
          <a:xfrm>
            <a:off x="3957523" y="5182819"/>
            <a:ext cx="476402" cy="381305"/>
          </a:xfrm>
          <a:prstGeom prst="rect">
            <a:avLst/>
          </a:prstGeom>
        </p:spPr>
      </p:pic>
      <p:sp>
        <p:nvSpPr>
          <p:cNvPr id="61" name="Text 50"/>
          <p:cNvSpPr txBox="1"/>
          <p:nvPr/>
        </p:nvSpPr>
        <p:spPr>
          <a:xfrm>
            <a:off x="5106924" y="4903927"/>
            <a:ext cx="2095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全組織・全サンプルでの比較</a:t>
            </a:r>
            <a:endParaRPr lang="en-US" sz="1200" dirty="0"/>
          </a:p>
        </p:txBody>
      </p:sp>
      <p:sp>
        <p:nvSpPr>
          <p:cNvPr id="62" name="Shape 51"/>
          <p:cNvSpPr/>
          <p:nvPr/>
        </p:nvSpPr>
        <p:spPr>
          <a:xfrm>
            <a:off x="10129723" y="4850892"/>
            <a:ext cx="1371600" cy="286207"/>
          </a:xfrm>
          <a:prstGeom prst="roundRect">
            <a:avLst>
              <a:gd name="adj" fmla="val 212993"/>
            </a:avLst>
          </a:prstGeom>
          <a:solidFill>
            <a:srgbClr val="78909C"/>
          </a:solidFill>
          <a:ln/>
          <a:effectLst>
            <a:outerShdw blurRad="38100" dist="25400" dir="5400000" algn="bl" rotWithShape="0">
              <a:srgbClr val="78909C">
                <a:alpha val="3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63" name="Image 9" descr="preencoded.png"/>
          <p:cNvPicPr>
            <a:picLocks noChangeAspect="1"/>
          </p:cNvPicPr>
          <p:nvPr/>
        </p:nvPicPr>
        <p:blipFill>
          <a:blip r:embed="rId11"/>
          <a:srcRect l="-2838" r="-2838"/>
          <a:stretch/>
        </p:blipFill>
        <p:spPr>
          <a:xfrm>
            <a:off x="10244023" y="4924958"/>
            <a:ext cx="123444" cy="133502"/>
          </a:xfrm>
          <a:prstGeom prst="rect">
            <a:avLst/>
          </a:prstGeom>
        </p:spPr>
      </p:pic>
      <p:sp>
        <p:nvSpPr>
          <p:cNvPr id="64" name="Text 52"/>
          <p:cNvSpPr txBox="1"/>
          <p:nvPr/>
        </p:nvSpPr>
        <p:spPr>
          <a:xfrm>
            <a:off x="10425074" y="4889297"/>
            <a:ext cx="10652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変化なし (一定)</a:t>
            </a:r>
            <a:endParaRPr lang="en-US" sz="1000" dirty="0"/>
          </a:p>
        </p:txBody>
      </p:sp>
      <p:sp>
        <p:nvSpPr>
          <p:cNvPr id="65" name="Text 53"/>
          <p:cNvSpPr txBox="1"/>
          <p:nvPr/>
        </p:nvSpPr>
        <p:spPr>
          <a:xfrm>
            <a:off x="5335524" y="5276088"/>
            <a:ext cx="3246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オス</a:t>
            </a:r>
            <a:endParaRPr lang="en-US" sz="900" dirty="0"/>
          </a:p>
        </p:txBody>
      </p:sp>
      <p:sp>
        <p:nvSpPr>
          <p:cNvPr id="66" name="Shape 54"/>
          <p:cNvSpPr/>
          <p:nvPr/>
        </p:nvSpPr>
        <p:spPr>
          <a:xfrm>
            <a:off x="5678424" y="5209337"/>
            <a:ext cx="5820156" cy="304495"/>
          </a:xfrm>
          <a:prstGeom prst="roundRect">
            <a:avLst>
              <a:gd name="adj" fmla="val 300300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7" name="Shape 55"/>
          <p:cNvSpPr/>
          <p:nvPr/>
        </p:nvSpPr>
        <p:spPr>
          <a:xfrm>
            <a:off x="5678424" y="5209337"/>
            <a:ext cx="3495751" cy="304495"/>
          </a:xfrm>
          <a:prstGeom prst="rect">
            <a:avLst/>
          </a:prstGeom>
          <a:solidFill>
            <a:srgbClr val="9CA3A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8" name="Text 56"/>
          <p:cNvSpPr txBox="1"/>
          <p:nvPr/>
        </p:nvSpPr>
        <p:spPr>
          <a:xfrm>
            <a:off x="8301838" y="5266030"/>
            <a:ext cx="8622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TPM: ~1000</a:t>
            </a:r>
            <a:endParaRPr lang="en-US" sz="1000" dirty="0"/>
          </a:p>
        </p:txBody>
      </p:sp>
      <p:sp>
        <p:nvSpPr>
          <p:cNvPr id="69" name="Text 57"/>
          <p:cNvSpPr txBox="1"/>
          <p:nvPr/>
        </p:nvSpPr>
        <p:spPr>
          <a:xfrm>
            <a:off x="5335524" y="5656478"/>
            <a:ext cx="3246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メス</a:t>
            </a:r>
            <a:endParaRPr lang="en-US" sz="900" dirty="0"/>
          </a:p>
        </p:txBody>
      </p:sp>
      <p:sp>
        <p:nvSpPr>
          <p:cNvPr id="70" name="Shape 58"/>
          <p:cNvSpPr/>
          <p:nvPr/>
        </p:nvSpPr>
        <p:spPr>
          <a:xfrm>
            <a:off x="5678424" y="5589727"/>
            <a:ext cx="5820156" cy="304495"/>
          </a:xfrm>
          <a:prstGeom prst="roundRect">
            <a:avLst>
              <a:gd name="adj" fmla="val 300300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1" name="Shape 59"/>
          <p:cNvSpPr/>
          <p:nvPr/>
        </p:nvSpPr>
        <p:spPr>
          <a:xfrm>
            <a:off x="5678424" y="5589727"/>
            <a:ext cx="3495751" cy="304495"/>
          </a:xfrm>
          <a:prstGeom prst="rect">
            <a:avLst/>
          </a:prstGeom>
          <a:solidFill>
            <a:srgbClr val="9CA3A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2" name="Text 60"/>
          <p:cNvSpPr txBox="1"/>
          <p:nvPr/>
        </p:nvSpPr>
        <p:spPr>
          <a:xfrm>
            <a:off x="8301838" y="5647334"/>
            <a:ext cx="8622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TPM: ~1000</a:t>
            </a:r>
            <a:endParaRPr lang="en-US" sz="1000" dirty="0"/>
          </a:p>
        </p:txBody>
      </p:sp>
      <p:sp>
        <p:nvSpPr>
          <p:cNvPr id="73" name="Shape 61"/>
          <p:cNvSpPr/>
          <p:nvPr/>
        </p:nvSpPr>
        <p:spPr>
          <a:xfrm>
            <a:off x="304495" y="6391656"/>
            <a:ext cx="11582705" cy="9144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74" name="Image 10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304495" y="6577279"/>
            <a:ext cx="114300" cy="114300"/>
          </a:xfrm>
          <a:prstGeom prst="rect">
            <a:avLst/>
          </a:prstGeom>
        </p:spPr>
      </p:pic>
      <p:sp>
        <p:nvSpPr>
          <p:cNvPr id="75" name="Text 62"/>
          <p:cNvSpPr txBox="1"/>
          <p:nvPr/>
        </p:nvSpPr>
        <p:spPr>
          <a:xfrm>
            <a:off x="457200" y="6543446"/>
            <a:ext cx="70107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TPM (Transcripts Per Million): 遺伝子の発現量を正規化した単位。値が大きいほど、細胞内でその遺伝子が強く働いていることを示す。</a:t>
            </a:r>
            <a:endParaRPr lang="en-US" sz="900" dirty="0"/>
          </a:p>
        </p:txBody>
      </p:sp>
      <p:sp>
        <p:nvSpPr>
          <p:cNvPr id="76" name="Text 63"/>
          <p:cNvSpPr txBox="1"/>
          <p:nvPr/>
        </p:nvSpPr>
        <p:spPr>
          <a:xfrm>
            <a:off x="9089136" y="6543446"/>
            <a:ext cx="28867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※ データはpolyesterによるシミュレーション値の平均</a:t>
            </a:r>
            <a:endParaRPr lang="en-US" sz="900" dirty="0"/>
          </a:p>
        </p:txBody>
      </p:sp>
      <p:sp>
        <p:nvSpPr>
          <p:cNvPr id="77" name="Shape 64"/>
          <p:cNvSpPr/>
          <p:nvPr/>
        </p:nvSpPr>
        <p:spPr>
          <a:xfrm>
            <a:off x="3613709" y="2418588"/>
            <a:ext cx="286207" cy="286207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8" name="Text 65"/>
          <p:cNvSpPr txBox="1"/>
          <p:nvPr/>
        </p:nvSpPr>
        <p:spPr>
          <a:xfrm>
            <a:off x="3682289" y="2469794"/>
            <a:ext cx="24414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0A4A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VS</a:t>
            </a:r>
            <a:endParaRPr lang="en-US" sz="900" dirty="0"/>
          </a:p>
        </p:txBody>
      </p:sp>
      <p:sp>
        <p:nvSpPr>
          <p:cNvPr id="79" name="Shape 66"/>
          <p:cNvSpPr/>
          <p:nvPr/>
        </p:nvSpPr>
        <p:spPr>
          <a:xfrm>
            <a:off x="3680460" y="3824021"/>
            <a:ext cx="286207" cy="286207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0" name="Text 67"/>
          <p:cNvSpPr txBox="1"/>
          <p:nvPr/>
        </p:nvSpPr>
        <p:spPr>
          <a:xfrm>
            <a:off x="3748126" y="3875227"/>
            <a:ext cx="24414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0A4A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VS</a:t>
            </a:r>
            <a:endParaRPr lang="en-US" sz="900" dirty="0"/>
          </a:p>
        </p:txBody>
      </p:sp>
      <p:sp>
        <p:nvSpPr>
          <p:cNvPr id="81" name="Text 68"/>
          <p:cNvSpPr txBox="1"/>
          <p:nvPr/>
        </p:nvSpPr>
        <p:spPr>
          <a:xfrm>
            <a:off x="4042562" y="2685593"/>
            <a:ext cx="4389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6323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オス翼</a:t>
            </a:r>
            <a:endParaRPr lang="en-US" sz="900" dirty="0"/>
          </a:p>
        </p:txBody>
      </p:sp>
      <p:pic>
        <p:nvPicPr>
          <p:cNvPr id="82" name="Image 11" descr="preencoded.png"/>
          <p:cNvPicPr>
            <a:picLocks noChangeAspect="1"/>
          </p:cNvPicPr>
          <p:nvPr/>
        </p:nvPicPr>
        <p:blipFill>
          <a:blip r:embed="rId9"/>
          <a:srcRect t="-24" b="-24"/>
          <a:stretch/>
        </p:blipFill>
        <p:spPr>
          <a:xfrm>
            <a:off x="3975811" y="2275942"/>
            <a:ext cx="476402" cy="381305"/>
          </a:xfrm>
          <a:prstGeom prst="rect">
            <a:avLst/>
          </a:prstGeom>
        </p:spPr>
      </p:pic>
      <p:pic>
        <p:nvPicPr>
          <p:cNvPr id="83" name="Image 12" descr="preencoded.png"/>
          <p:cNvPicPr>
            <a:picLocks noChangeAspect="1"/>
          </p:cNvPicPr>
          <p:nvPr/>
        </p:nvPicPr>
        <p:blipFill>
          <a:blip r:embed="rId13"/>
          <a:srcRect l="-16667" r="-16667"/>
          <a:stretch/>
        </p:blipFill>
        <p:spPr>
          <a:xfrm>
            <a:off x="4280306" y="2211934"/>
            <a:ext cx="209398" cy="209398"/>
          </a:xfrm>
          <a:prstGeom prst="rect">
            <a:avLst/>
          </a:prstGeom>
        </p:spPr>
      </p:pic>
      <p:sp>
        <p:nvSpPr>
          <p:cNvPr id="84" name="Text 69"/>
          <p:cNvSpPr txBox="1"/>
          <p:nvPr/>
        </p:nvSpPr>
        <p:spPr>
          <a:xfrm>
            <a:off x="3137306" y="4091026"/>
            <a:ext cx="5532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6323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メス毒腺</a:t>
            </a:r>
            <a:endParaRPr lang="en-US" sz="900" dirty="0"/>
          </a:p>
        </p:txBody>
      </p:sp>
      <p:pic>
        <p:nvPicPr>
          <p:cNvPr id="85" name="Image 13" descr="preencoded.png"/>
          <p:cNvPicPr>
            <a:picLocks noChangeAspect="1"/>
          </p:cNvPicPr>
          <p:nvPr/>
        </p:nvPicPr>
        <p:blipFill>
          <a:blip r:embed="rId10"/>
          <a:srcRect t="-24" b="-24"/>
          <a:stretch/>
        </p:blipFill>
        <p:spPr>
          <a:xfrm>
            <a:off x="3128162" y="3681374"/>
            <a:ext cx="476402" cy="381305"/>
          </a:xfrm>
          <a:prstGeom prst="rect">
            <a:avLst/>
          </a:prstGeom>
        </p:spPr>
      </p:pic>
      <p:pic>
        <p:nvPicPr>
          <p:cNvPr id="86" name="Image 14" descr="preencoded.png"/>
          <p:cNvPicPr>
            <a:picLocks noChangeAspect="1"/>
          </p:cNvPicPr>
          <p:nvPr/>
        </p:nvPicPr>
        <p:blipFill>
          <a:blip r:embed="rId14">
            <a:alphaModFix amt="82000"/>
          </a:blip>
          <a:srcRect t="-1100" b="-1100"/>
          <a:stretch/>
        </p:blipFill>
        <p:spPr>
          <a:xfrm>
            <a:off x="3051353" y="3898087"/>
            <a:ext cx="114300" cy="13350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392</Words>
  <Application>Microsoft Office PowerPoint</Application>
  <PresentationFormat>ワイド画面</PresentationFormat>
  <Paragraphs>157</Paragraphs>
  <Slides>5</Slides>
  <Notes>5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8" baseType="lpstr">
      <vt:lpstr>Noto Sans JP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Ueda Ryota</cp:lastModifiedBy>
  <cp:revision>4</cp:revision>
  <dcterms:created xsi:type="dcterms:W3CDTF">2025-12-20T06:04:57Z</dcterms:created>
  <dcterms:modified xsi:type="dcterms:W3CDTF">2025-12-20T06:28:17Z</dcterms:modified>
</cp:coreProperties>
</file>