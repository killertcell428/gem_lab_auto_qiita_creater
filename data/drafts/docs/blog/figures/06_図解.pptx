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305" y="247802"/>
            <a:ext cx="247802" cy="2478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1754" y="185623"/>
            <a:ext cx="609173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図1 統計検定が必要な理由：見た目の差と偶然の区別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81305" y="1143000"/>
            <a:ext cx="6629400" cy="5333695"/>
          </a:xfrm>
          <a:prstGeom prst="roundRect">
            <a:avLst>
              <a:gd name="adj" fmla="val 367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3" r="-3" t="0" b="0"/>
          <a:stretch/>
        </p:blipFill>
        <p:spPr>
          <a:xfrm>
            <a:off x="381305" y="1143000"/>
            <a:ext cx="6629400" cy="53336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62656" y="1943100"/>
            <a:ext cx="1466698" cy="743407"/>
          </a:xfrm>
          <a:prstGeom prst="roundRect">
            <a:avLst>
              <a:gd name="adj" fmla="val 3153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3161995" y="2029054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有意差はあるか？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264408" y="2247595"/>
            <a:ext cx="1010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 &lt; 0.05 ?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161995" y="2581351"/>
            <a:ext cx="1067105" cy="1920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hape 10"/>
          <p:cNvSpPr/>
          <p:nvPr/>
        </p:nvSpPr>
        <p:spPr>
          <a:xfrm>
            <a:off x="3161995" y="2553005"/>
            <a:ext cx="19202" cy="9509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hape 11"/>
          <p:cNvSpPr/>
          <p:nvPr/>
        </p:nvSpPr>
        <p:spPr>
          <a:xfrm>
            <a:off x="4209898" y="2553005"/>
            <a:ext cx="19202" cy="9509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Shape 12"/>
          <p:cNvSpPr/>
          <p:nvPr/>
        </p:nvSpPr>
        <p:spPr>
          <a:xfrm>
            <a:off x="7391095" y="1534363"/>
            <a:ext cx="4419295" cy="1209751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91095" y="1534363"/>
            <a:ext cx="57607" cy="1209751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42" b="-842"/>
          <a:stretch/>
        </p:blipFill>
        <p:spPr>
          <a:xfrm>
            <a:off x="7677302" y="1768450"/>
            <a:ext cx="190195" cy="17190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944307" y="1725473"/>
            <a:ext cx="9866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見た目の差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7677302" y="2058314"/>
            <a:ext cx="3896258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例えば、オスの発現量が平均500、メスが平均60だったとします。 グラフ上では大きな差に見えます。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391095" y="2965399"/>
            <a:ext cx="4419295" cy="1447495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91095" y="2965399"/>
            <a:ext cx="57607" cy="1447495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77302" y="3198571"/>
            <a:ext cx="171907" cy="17190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925105" y="3155594"/>
            <a:ext cx="20153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偶然（ノイズ）の可能性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677302" y="3489350"/>
            <a:ext cx="39630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しかし、データには常にばらつきがあります。 この差は本当に生物学的な意味があるのでしょうか？ それとも、たまたま極端な個体がいただけでしょうか？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391095" y="4639666"/>
            <a:ext cx="4419295" cy="1447495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391095" y="4639666"/>
            <a:ext cx="57607" cy="1447495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-1773" r="-1773" t="0" b="0"/>
          <a:stretch/>
        </p:blipFill>
        <p:spPr>
          <a:xfrm>
            <a:off x="7677302" y="4872838"/>
            <a:ext cx="133502" cy="17190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886700" y="4829861"/>
            <a:ext cx="13295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統計検定の役割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677302" y="5163617"/>
            <a:ext cx="39630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p値を計算することで、 「この差が偶然で生じる確率」を算出します。 確率が低ければ（p &lt; 0.05）、意味のある差と判定します。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305" y="247802"/>
            <a:ext cx="247802" cy="2478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1754" y="185623"/>
            <a:ext cx="599663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図2 p値とFDR（多重検定補正）：偶然と真実の選別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81305" y="1047902"/>
            <a:ext cx="5572354" cy="5524805"/>
          </a:xfrm>
          <a:prstGeom prst="roundRect">
            <a:avLst>
              <a:gd name="adj" fmla="val 3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" y="1629461"/>
            <a:ext cx="5171846" cy="1920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80644" y="1248156"/>
            <a:ext cx="18196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 単一遺伝子のp値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5581498" y="1295705"/>
            <a:ext cx="171907" cy="190195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53" b="-153"/>
          <a:stretch/>
        </p:blipFill>
        <p:spPr>
          <a:xfrm>
            <a:off x="580644" y="1790395"/>
            <a:ext cx="5171846" cy="313364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80644" y="5063947"/>
            <a:ext cx="5171846" cy="1314907"/>
          </a:xfrm>
          <a:prstGeom prst="roundRect">
            <a:avLst>
              <a:gd name="adj" fmla="val 4031"/>
            </a:avLst>
          </a:prstGeom>
          <a:solidFill>
            <a:srgbClr val="F8FAFC"/>
          </a:solidFill>
          <a:ln/>
        </p:spPr>
      </p:sp>
      <p:sp>
        <p:nvSpPr>
          <p:cNvPr id="14" name="Shape 9"/>
          <p:cNvSpPr/>
          <p:nvPr/>
        </p:nvSpPr>
        <p:spPr>
          <a:xfrm>
            <a:off x="580644" y="5063947"/>
            <a:ext cx="38405" cy="1314907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761695" y="5206594"/>
            <a:ext cx="1571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偶然でも5%は当たる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5498287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 &lt; 0.05 は「偶然でこの差が出る確率が5%未満」という意味。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761695" y="5741518"/>
            <a:ext cx="4924958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1つの遺伝子だけを見ているなら、これで十分「珍しい」と判断できます。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38951" y="1047902"/>
            <a:ext cx="5572354" cy="5524805"/>
          </a:xfrm>
          <a:prstGeom prst="roundRect">
            <a:avLst>
              <a:gd name="adj" fmla="val 3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39205" y="1629461"/>
            <a:ext cx="5171846" cy="1920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439205" y="1248156"/>
            <a:ext cx="24862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 多数遺伝子のFDR (padj)</a:t>
            </a:r>
            <a:endParaRPr lang="en-US" sz="15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11391595" y="1295705"/>
            <a:ext cx="219456" cy="190195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53" b="-153"/>
          <a:stretch/>
        </p:blipFill>
        <p:spPr>
          <a:xfrm>
            <a:off x="6439205" y="1790395"/>
            <a:ext cx="5171846" cy="3133649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439205" y="5063947"/>
            <a:ext cx="5171846" cy="1314907"/>
          </a:xfrm>
          <a:prstGeom prst="roundRect">
            <a:avLst>
              <a:gd name="adj" fmla="val 4031"/>
            </a:avLst>
          </a:prstGeom>
          <a:solidFill>
            <a:srgbClr val="F8FAFC"/>
          </a:solidFill>
          <a:ln/>
        </p:spPr>
      </p:sp>
      <p:sp>
        <p:nvSpPr>
          <p:cNvPr id="24" name="Shape 17"/>
          <p:cNvSpPr/>
          <p:nvPr/>
        </p:nvSpPr>
        <p:spPr>
          <a:xfrm>
            <a:off x="6439205" y="5063947"/>
            <a:ext cx="38405" cy="1314907"/>
          </a:xfrm>
          <a:prstGeom prst="rect">
            <a:avLst/>
          </a:prstGeom>
          <a:solidFill>
            <a:srgbClr val="D94B2B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6620256" y="5206594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FDRで偽陽性を制御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620256" y="5498287"/>
            <a:ext cx="494416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数千個の遺伝子を同時に検定すると、偶然の「当たり（偽陽性）」が大量に出ます。 FDR補正 (padj) はこの偽陽性を抑え、「本当に意味のある差」だけを残します。</a:t>
            </a:r>
            <a:endParaRPr lang="en-US" sz="12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6038698" y="3810305"/>
            <a:ext cx="142646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6096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52144"/>
            <a:ext cx="84444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DESeq2は、RNA-seqデータの特異な性質（離散値、大きな分散）を考慮した統計モデルで解析を行います。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1305" y="4914900"/>
            <a:ext cx="114300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381305" y="4914900"/>
            <a:ext cx="47549" cy="1371600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049" y="5150815"/>
            <a:ext cx="286207" cy="2862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7046" y="5115154"/>
            <a:ext cx="1805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なぜDESeq2なのか？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7046" y="5419649"/>
            <a:ext cx="71469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通常のt検定は正規分布を仮定しますが、RNA-seqデータ（カウントデータ）は「負の二項分布」に従います。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57046" y="5648249"/>
            <a:ext cx="70225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また、サンプル数が少ない（N=3〜5）実験系では、分散（ばらつき）を正確に推定することが難しいため、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57046" y="5876849"/>
            <a:ext cx="71277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DESeq2は全遺伝子の情報を借りて分散を推定する（Shrinkage）ことで、堅牢な統計検定を実現しています。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087" b="-1087"/>
          <a:stretch/>
        </p:blipFill>
        <p:spPr>
          <a:xfrm>
            <a:off x="2182673" y="2780690"/>
            <a:ext cx="105156" cy="171907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87" b="-1087"/>
          <a:stretch/>
        </p:blipFill>
        <p:spPr>
          <a:xfrm>
            <a:off x="4112971" y="2780690"/>
            <a:ext cx="105156" cy="171907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87" b="-1087"/>
          <a:stretch/>
        </p:blipFill>
        <p:spPr>
          <a:xfrm>
            <a:off x="6044184" y="2780690"/>
            <a:ext cx="105156" cy="171907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087" b="-1087"/>
          <a:stretch/>
        </p:blipFill>
        <p:spPr>
          <a:xfrm>
            <a:off x="7974482" y="2780690"/>
            <a:ext cx="105156" cy="171907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87" b="-1087"/>
          <a:stretch/>
        </p:blipFill>
        <p:spPr>
          <a:xfrm>
            <a:off x="9904781" y="2780690"/>
            <a:ext cx="105156" cy="171907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381305" y="2856586"/>
            <a:ext cx="11430000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1"/>
          <p:cNvSpPr/>
          <p:nvPr/>
        </p:nvSpPr>
        <p:spPr>
          <a:xfrm>
            <a:off x="437998" y="1828800"/>
            <a:ext cx="1666951" cy="2076602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1136599" y="1723644"/>
            <a:ext cx="267005" cy="2670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3"/>
          <p:cNvSpPr txBox="1"/>
          <p:nvPr/>
        </p:nvSpPr>
        <p:spPr>
          <a:xfrm>
            <a:off x="1230782" y="1757477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1031443" y="2029054"/>
            <a:ext cx="476402" cy="476402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75004" y="2171700"/>
            <a:ext cx="190195" cy="19019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46404" y="2600554"/>
            <a:ext cx="76992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カウント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867766" y="2810866"/>
            <a:ext cx="93177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マトリクス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882396" y="3087929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Raw Counts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842162" y="3302813"/>
            <a:ext cx="9646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遺伝子ごとの</a:t>
            </a:r>
            <a:endParaRPr lang="en-US" sz="1100" dirty="0"/>
          </a:p>
        </p:txBody>
      </p:sp>
      <p:sp>
        <p:nvSpPr>
          <p:cNvPr id="28" name="Text 19"/>
          <p:cNvSpPr txBox="1"/>
          <p:nvPr/>
        </p:nvSpPr>
        <p:spPr>
          <a:xfrm>
            <a:off x="841248" y="3503066"/>
            <a:ext cx="9747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リード数集計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2368296" y="1828800"/>
            <a:ext cx="1666951" cy="2076602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3066898" y="1723644"/>
            <a:ext cx="267005" cy="2670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2"/>
          <p:cNvSpPr txBox="1"/>
          <p:nvPr/>
        </p:nvSpPr>
        <p:spPr>
          <a:xfrm>
            <a:off x="3161081" y="1757477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2962656" y="2029054"/>
            <a:ext cx="476402" cy="476402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081528" y="2171700"/>
            <a:ext cx="237744" cy="19019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2957170" y="2600554"/>
            <a:ext cx="6080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正規化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2812694" y="2877617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Size Factors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2559406" y="3092501"/>
            <a:ext cx="1393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ライブラリサイズの</a:t>
            </a:r>
            <a:endParaRPr lang="en-US" sz="1100" dirty="0"/>
          </a:p>
        </p:txBody>
      </p:sp>
      <p:sp>
        <p:nvSpPr>
          <p:cNvPr id="37" name="Text 27"/>
          <p:cNvSpPr txBox="1"/>
          <p:nvPr/>
        </p:nvSpPr>
        <p:spPr>
          <a:xfrm>
            <a:off x="2842870" y="3292754"/>
            <a:ext cx="8311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違いを補正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4298594" y="1828800"/>
            <a:ext cx="1666951" cy="2076602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4997196" y="1723644"/>
            <a:ext cx="267005" cy="2670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30"/>
          <p:cNvSpPr txBox="1"/>
          <p:nvPr/>
        </p:nvSpPr>
        <p:spPr>
          <a:xfrm>
            <a:off x="5091379" y="1757477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4892954" y="2029054"/>
            <a:ext cx="476402" cy="476402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035601" y="2171700"/>
            <a:ext cx="190195" cy="19019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4807001" y="2600554"/>
            <a:ext cx="76992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分散推定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4782312" y="2877617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Dispersion</a:t>
            </a:r>
            <a:endParaRPr lang="en-US" sz="1000" dirty="0"/>
          </a:p>
        </p:txBody>
      </p:sp>
      <p:sp>
        <p:nvSpPr>
          <p:cNvPr id="45" name="Text 34"/>
          <p:cNvSpPr txBox="1"/>
          <p:nvPr/>
        </p:nvSpPr>
        <p:spPr>
          <a:xfrm>
            <a:off x="4630522" y="3092501"/>
            <a:ext cx="111739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発現量に応じた</a:t>
            </a:r>
            <a:endParaRPr lang="en-US" sz="1100" dirty="0"/>
          </a:p>
        </p:txBody>
      </p:sp>
      <p:sp>
        <p:nvSpPr>
          <p:cNvPr id="46" name="Text 35"/>
          <p:cNvSpPr txBox="1"/>
          <p:nvPr/>
        </p:nvSpPr>
        <p:spPr>
          <a:xfrm>
            <a:off x="4487875" y="3292754"/>
            <a:ext cx="1402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ばらつきをモデル化</a:t>
            </a:r>
            <a:endParaRPr lang="en-US" sz="1100" dirty="0"/>
          </a:p>
        </p:txBody>
      </p:sp>
      <p:sp>
        <p:nvSpPr>
          <p:cNvPr id="47" name="Shape 36"/>
          <p:cNvSpPr/>
          <p:nvPr/>
        </p:nvSpPr>
        <p:spPr>
          <a:xfrm>
            <a:off x="6229807" y="1828800"/>
            <a:ext cx="1666951" cy="2076602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8" name="Shape 37"/>
          <p:cNvSpPr/>
          <p:nvPr/>
        </p:nvSpPr>
        <p:spPr>
          <a:xfrm>
            <a:off x="6927494" y="1723644"/>
            <a:ext cx="267005" cy="267005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49" name="Text 38"/>
          <p:cNvSpPr txBox="1"/>
          <p:nvPr/>
        </p:nvSpPr>
        <p:spPr>
          <a:xfrm>
            <a:off x="7021678" y="1757477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6823253" y="2029054"/>
            <a:ext cx="476402" cy="476402"/>
          </a:xfrm>
          <a:prstGeom prst="ellipse">
            <a:avLst/>
          </a:prstGeom>
          <a:solidFill>
            <a:srgbClr val="F3E8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51" name="Text 40"/>
          <p:cNvSpPr txBox="1"/>
          <p:nvPr/>
        </p:nvSpPr>
        <p:spPr>
          <a:xfrm>
            <a:off x="7004304" y="21808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900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rcRect l="-1064" r="-1064" t="0" b="0"/>
          <a:stretch/>
        </p:blipFill>
        <p:spPr>
          <a:xfrm>
            <a:off x="7108546" y="2180844"/>
            <a:ext cx="219456" cy="171907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6737299" y="2600554"/>
            <a:ext cx="76992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統計検定</a:t>
            </a:r>
            <a:endParaRPr lang="en-US" sz="1200" dirty="0"/>
          </a:p>
        </p:txBody>
      </p:sp>
      <p:sp>
        <p:nvSpPr>
          <p:cNvPr id="54" name="Text 42"/>
          <p:cNvSpPr txBox="1"/>
          <p:nvPr/>
        </p:nvSpPr>
        <p:spPr>
          <a:xfrm>
            <a:off x="6749186" y="2877617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Wald Test</a:t>
            </a:r>
            <a:endParaRPr lang="en-US" sz="1000" dirty="0"/>
          </a:p>
        </p:txBody>
      </p:sp>
      <p:sp>
        <p:nvSpPr>
          <p:cNvPr id="55" name="Text 43"/>
          <p:cNvSpPr txBox="1"/>
          <p:nvPr/>
        </p:nvSpPr>
        <p:spPr>
          <a:xfrm>
            <a:off x="6601054" y="3092501"/>
            <a:ext cx="10314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 vs メスの</a:t>
            </a:r>
            <a:endParaRPr lang="en-US" sz="1100" dirty="0"/>
          </a:p>
        </p:txBody>
      </p:sp>
      <p:sp>
        <p:nvSpPr>
          <p:cNvPr id="56" name="Text 44"/>
          <p:cNvSpPr txBox="1"/>
          <p:nvPr/>
        </p:nvSpPr>
        <p:spPr>
          <a:xfrm>
            <a:off x="6560820" y="3292754"/>
            <a:ext cx="111739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差を有意性検定</a:t>
            </a:r>
            <a:endParaRPr lang="en-US" sz="1100" dirty="0"/>
          </a:p>
        </p:txBody>
      </p:sp>
      <p:sp>
        <p:nvSpPr>
          <p:cNvPr id="57" name="Shape 45"/>
          <p:cNvSpPr/>
          <p:nvPr/>
        </p:nvSpPr>
        <p:spPr>
          <a:xfrm>
            <a:off x="8160106" y="1828800"/>
            <a:ext cx="1666951" cy="2076602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58" name="Shape 46"/>
          <p:cNvSpPr/>
          <p:nvPr/>
        </p:nvSpPr>
        <p:spPr>
          <a:xfrm>
            <a:off x="8858707" y="1723644"/>
            <a:ext cx="267005" cy="267005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59" name="Text 47"/>
          <p:cNvSpPr txBox="1"/>
          <p:nvPr/>
        </p:nvSpPr>
        <p:spPr>
          <a:xfrm>
            <a:off x="8951976" y="1757477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000" dirty="0"/>
          </a:p>
        </p:txBody>
      </p:sp>
      <p:sp>
        <p:nvSpPr>
          <p:cNvPr id="60" name="Shape 48"/>
          <p:cNvSpPr/>
          <p:nvPr/>
        </p:nvSpPr>
        <p:spPr>
          <a:xfrm>
            <a:off x="8753551" y="2029054"/>
            <a:ext cx="476402" cy="476402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896198" y="2171700"/>
            <a:ext cx="190195" cy="190195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8505749" y="2600554"/>
            <a:ext cx="109362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多重検定補正</a:t>
            </a:r>
            <a:endParaRPr lang="en-US" sz="1200" dirty="0"/>
          </a:p>
        </p:txBody>
      </p:sp>
      <p:sp>
        <p:nvSpPr>
          <p:cNvPr id="63" name="Text 50"/>
          <p:cNvSpPr txBox="1"/>
          <p:nvPr/>
        </p:nvSpPr>
        <p:spPr>
          <a:xfrm>
            <a:off x="8631022" y="2877617"/>
            <a:ext cx="824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FDR (BH法)</a:t>
            </a:r>
            <a:endParaRPr lang="en-US" sz="1000" dirty="0"/>
          </a:p>
        </p:txBody>
      </p:sp>
      <p:sp>
        <p:nvSpPr>
          <p:cNvPr id="64" name="Text 51"/>
          <p:cNvSpPr txBox="1"/>
          <p:nvPr/>
        </p:nvSpPr>
        <p:spPr>
          <a:xfrm>
            <a:off x="8351215" y="3092501"/>
            <a:ext cx="1393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数千回の検定による</a:t>
            </a:r>
            <a:endParaRPr lang="en-US" sz="1100" dirty="0"/>
          </a:p>
        </p:txBody>
      </p:sp>
      <p:sp>
        <p:nvSpPr>
          <p:cNvPr id="65" name="Text 52"/>
          <p:cNvSpPr txBox="1"/>
          <p:nvPr/>
        </p:nvSpPr>
        <p:spPr>
          <a:xfrm>
            <a:off x="8563356" y="3292754"/>
            <a:ext cx="9747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偽陽性を調整</a:t>
            </a:r>
            <a:endParaRPr lang="en-US" sz="1100" dirty="0"/>
          </a:p>
        </p:txBody>
      </p:sp>
      <p:sp>
        <p:nvSpPr>
          <p:cNvPr id="66" name="Shape 53"/>
          <p:cNvSpPr/>
          <p:nvPr/>
        </p:nvSpPr>
        <p:spPr>
          <a:xfrm>
            <a:off x="10090404" y="1828800"/>
            <a:ext cx="1666951" cy="2076602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7" name="Shape 54"/>
          <p:cNvSpPr/>
          <p:nvPr/>
        </p:nvSpPr>
        <p:spPr>
          <a:xfrm>
            <a:off x="10789006" y="1723644"/>
            <a:ext cx="267005" cy="267005"/>
          </a:xfrm>
          <a:prstGeom prst="ellipse">
            <a:avLst/>
          </a:prstGeom>
          <a:solidFill>
            <a:srgbClr val="15803D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68" name="Text 55"/>
          <p:cNvSpPr txBox="1"/>
          <p:nvPr/>
        </p:nvSpPr>
        <p:spPr>
          <a:xfrm>
            <a:off x="10883189" y="1757477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000" dirty="0"/>
          </a:p>
        </p:txBody>
      </p:sp>
      <p:sp>
        <p:nvSpPr>
          <p:cNvPr id="69" name="Shape 56"/>
          <p:cNvSpPr/>
          <p:nvPr/>
        </p:nvSpPr>
        <p:spPr>
          <a:xfrm>
            <a:off x="10683850" y="2029054"/>
            <a:ext cx="476402" cy="476402"/>
          </a:xfrm>
          <a:prstGeom prst="ellipse">
            <a:avLst/>
          </a:prstGeom>
          <a:solidFill>
            <a:srgbClr val="F0FDF4"/>
          </a:solidFill>
          <a:ln/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rcRect l="-1648" r="-1648" t="0" b="0"/>
          <a:stretch/>
        </p:blipFill>
        <p:spPr>
          <a:xfrm>
            <a:off x="10836554" y="2171700"/>
            <a:ext cx="171907" cy="190195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10441534" y="2600554"/>
            <a:ext cx="108356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結果テーブル</a:t>
            </a:r>
            <a:endParaRPr lang="en-US" sz="1200" dirty="0"/>
          </a:p>
        </p:txBody>
      </p:sp>
      <p:sp>
        <p:nvSpPr>
          <p:cNvPr id="72" name="Text 58"/>
          <p:cNvSpPr txBox="1"/>
          <p:nvPr/>
        </p:nvSpPr>
        <p:spPr>
          <a:xfrm>
            <a:off x="10617098" y="2877617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 Genes</a:t>
            </a:r>
            <a:endParaRPr lang="en-US" sz="1000" dirty="0"/>
          </a:p>
        </p:txBody>
      </p:sp>
      <p:sp>
        <p:nvSpPr>
          <p:cNvPr id="73" name="Text 59"/>
          <p:cNvSpPr txBox="1"/>
          <p:nvPr/>
        </p:nvSpPr>
        <p:spPr>
          <a:xfrm>
            <a:off x="10279685" y="3092501"/>
            <a:ext cx="1402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有意な遺伝子リスト</a:t>
            </a:r>
            <a:endParaRPr lang="en-US" sz="1100" dirty="0"/>
          </a:p>
        </p:txBody>
      </p:sp>
      <p:sp>
        <p:nvSpPr>
          <p:cNvPr id="74" name="Text 60"/>
          <p:cNvSpPr txBox="1"/>
          <p:nvPr/>
        </p:nvSpPr>
        <p:spPr>
          <a:xfrm>
            <a:off x="10516514" y="3292754"/>
            <a:ext cx="927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(padj &lt; 0.05)</a:t>
            </a:r>
            <a:endParaRPr lang="en-US" sz="1100" dirty="0"/>
          </a:p>
        </p:txBody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13"/>
          <a:srcRect l="-1064" r="-1064" t="0" b="0"/>
          <a:stretch/>
        </p:blipFill>
        <p:spPr>
          <a:xfrm>
            <a:off x="6794906" y="2180844"/>
            <a:ext cx="219456" cy="171907"/>
          </a:xfrm>
          <a:prstGeom prst="rect">
            <a:avLst/>
          </a:prstGeom>
        </p:spPr>
      </p:pic>
      <p:sp>
        <p:nvSpPr>
          <p:cNvPr id="76" name="Shape 6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7" name="Shape 62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78" name="Image 13" descr="preencoded.png">    </p:cNvPr>
          <p:cNvPicPr>
            <a:picLocks noChangeAspect="1"/>
          </p:cNvPicPr>
          <p:nvPr/>
        </p:nvPicPr>
        <p:blipFill>
          <a:blip r:embed="rId14"/>
          <a:srcRect l="-775" r="-775" t="0" b="0"/>
          <a:stretch/>
        </p:blipFill>
        <p:spPr>
          <a:xfrm>
            <a:off x="381305" y="247802"/>
            <a:ext cx="314554" cy="247802"/>
          </a:xfrm>
          <a:prstGeom prst="rect">
            <a:avLst/>
          </a:prstGeom>
        </p:spPr>
      </p:pic>
      <p:sp>
        <p:nvSpPr>
          <p:cNvPr id="79" name="Text 63"/>
          <p:cNvSpPr txBox="1"/>
          <p:nvPr/>
        </p:nvSpPr>
        <p:spPr>
          <a:xfrm>
            <a:off x="838505" y="185623"/>
            <a:ext cx="529163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図3 DESeq2の処理フロー：データから真実へ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609630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761695"/>
            <a:ext cx="12191695" cy="609630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305" y="1185977"/>
            <a:ext cx="171907" cy="1719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9107" y="1143000"/>
            <a:ext cx="19577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サンプル情報 (colData)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90449" y="1552651"/>
            <a:ext cx="981151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5"/>
          <p:cNvSpPr/>
          <p:nvPr/>
        </p:nvSpPr>
        <p:spPr>
          <a:xfrm>
            <a:off x="390449" y="2000707"/>
            <a:ext cx="9811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6"/>
          <p:cNvSpPr/>
          <p:nvPr/>
        </p:nvSpPr>
        <p:spPr>
          <a:xfrm>
            <a:off x="2892247" y="1552651"/>
            <a:ext cx="1295705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7"/>
          <p:cNvSpPr/>
          <p:nvPr/>
        </p:nvSpPr>
        <p:spPr>
          <a:xfrm>
            <a:off x="2892247" y="2000707"/>
            <a:ext cx="12957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8"/>
          <p:cNvSpPr/>
          <p:nvPr/>
        </p:nvSpPr>
        <p:spPr>
          <a:xfrm>
            <a:off x="390449" y="2396642"/>
            <a:ext cx="9811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9"/>
          <p:cNvSpPr/>
          <p:nvPr/>
        </p:nvSpPr>
        <p:spPr>
          <a:xfrm>
            <a:off x="1370686" y="2396642"/>
            <a:ext cx="64739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2012594" y="2396642"/>
            <a:ext cx="8860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2892247" y="2396642"/>
            <a:ext cx="12957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2"/>
          <p:cNvSpPr/>
          <p:nvPr/>
        </p:nvSpPr>
        <p:spPr>
          <a:xfrm>
            <a:off x="390449" y="2796235"/>
            <a:ext cx="9811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3"/>
          <p:cNvSpPr/>
          <p:nvPr/>
        </p:nvSpPr>
        <p:spPr>
          <a:xfrm>
            <a:off x="1370686" y="2796235"/>
            <a:ext cx="64739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4"/>
          <p:cNvSpPr/>
          <p:nvPr/>
        </p:nvSpPr>
        <p:spPr>
          <a:xfrm>
            <a:off x="2012594" y="2796235"/>
            <a:ext cx="8860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5"/>
          <p:cNvSpPr/>
          <p:nvPr/>
        </p:nvSpPr>
        <p:spPr>
          <a:xfrm>
            <a:off x="2892247" y="2796235"/>
            <a:ext cx="12957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6"/>
          <p:cNvSpPr/>
          <p:nvPr/>
        </p:nvSpPr>
        <p:spPr>
          <a:xfrm>
            <a:off x="390449" y="3196742"/>
            <a:ext cx="9811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7"/>
          <p:cNvSpPr/>
          <p:nvPr/>
        </p:nvSpPr>
        <p:spPr>
          <a:xfrm>
            <a:off x="1370686" y="3196742"/>
            <a:ext cx="64739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18"/>
          <p:cNvSpPr/>
          <p:nvPr/>
        </p:nvSpPr>
        <p:spPr>
          <a:xfrm>
            <a:off x="2012594" y="3196742"/>
            <a:ext cx="8860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19"/>
          <p:cNvSpPr/>
          <p:nvPr/>
        </p:nvSpPr>
        <p:spPr>
          <a:xfrm>
            <a:off x="2892247" y="3196742"/>
            <a:ext cx="12957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0"/>
          <p:cNvSpPr/>
          <p:nvPr/>
        </p:nvSpPr>
        <p:spPr>
          <a:xfrm>
            <a:off x="390449" y="3596335"/>
            <a:ext cx="9811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1"/>
          <p:cNvSpPr/>
          <p:nvPr/>
        </p:nvSpPr>
        <p:spPr>
          <a:xfrm>
            <a:off x="1370686" y="3596335"/>
            <a:ext cx="64739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2"/>
          <p:cNvSpPr/>
          <p:nvPr/>
        </p:nvSpPr>
        <p:spPr>
          <a:xfrm>
            <a:off x="2012594" y="3596335"/>
            <a:ext cx="8860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3"/>
          <p:cNvSpPr/>
          <p:nvPr/>
        </p:nvSpPr>
        <p:spPr>
          <a:xfrm>
            <a:off x="2892247" y="3596335"/>
            <a:ext cx="12957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4"/>
          <p:cNvSpPr/>
          <p:nvPr/>
        </p:nvSpPr>
        <p:spPr>
          <a:xfrm>
            <a:off x="381305" y="4233672"/>
            <a:ext cx="3810305" cy="752551"/>
          </a:xfrm>
          <a:prstGeom prst="roundRect">
            <a:avLst>
              <a:gd name="adj" fmla="val 12304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33095" y="1666951"/>
            <a:ext cx="6409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Sample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3034894" y="1666951"/>
            <a:ext cx="8979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Subspecies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533095" y="2119579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S1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513332" y="2100377"/>
            <a:ext cx="214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2155241" y="2100377"/>
            <a:ext cx="415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Wing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3034894" y="2100377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Rios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533095" y="2519172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S2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513332" y="2499970"/>
            <a:ext cx="214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2155241" y="2499970"/>
            <a:ext cx="319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Tail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3034894" y="2499970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Rios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533095" y="2919679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S3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1513332" y="2900477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2155241" y="2900477"/>
            <a:ext cx="415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Wing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3034894" y="2900477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Rios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533095" y="3319272"/>
            <a:ext cx="2624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S4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1513332" y="330007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2155241" y="3300070"/>
            <a:ext cx="319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Tail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3034894" y="3300070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Rios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1655064" y="3700577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... (N=3~5 per group)</a:t>
            </a:r>
            <a:endParaRPr lang="en-US" sz="100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70" b="-870"/>
          <a:stretch/>
        </p:blipFill>
        <p:spPr>
          <a:xfrm>
            <a:off x="543154" y="4433011"/>
            <a:ext cx="105156" cy="142646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724205" y="4395521"/>
            <a:ext cx="7269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ポイント: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543154" y="4395521"/>
            <a:ext cx="333664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デザイン式に入れる因子は、この表の「列名」と一致している必要があります。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1370686" y="1552651"/>
            <a:ext cx="647395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Shape 47"/>
          <p:cNvSpPr/>
          <p:nvPr/>
        </p:nvSpPr>
        <p:spPr>
          <a:xfrm>
            <a:off x="1370686" y="2000707"/>
            <a:ext cx="6473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1513332" y="1666951"/>
            <a:ext cx="3648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Sex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1983334" y="1735531"/>
            <a:ext cx="75895" cy="75895"/>
          </a:xfrm>
          <a:prstGeom prst="ellipse">
            <a:avLst/>
          </a:prstGeom>
          <a:solidFill>
            <a:srgbClr val="D94B2B"/>
          </a:solidFill>
          <a:ln/>
        </p:spPr>
      </p:sp>
      <p:sp>
        <p:nvSpPr>
          <p:cNvPr id="55" name="Shape 50"/>
          <p:cNvSpPr/>
          <p:nvPr/>
        </p:nvSpPr>
        <p:spPr>
          <a:xfrm>
            <a:off x="2012594" y="1552651"/>
            <a:ext cx="886054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Shape 51"/>
          <p:cNvSpPr/>
          <p:nvPr/>
        </p:nvSpPr>
        <p:spPr>
          <a:xfrm>
            <a:off x="2012594" y="2000707"/>
            <a:ext cx="88605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2155241" y="1666951"/>
            <a:ext cx="5650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Tissue</a:t>
            </a:r>
            <a:endParaRPr lang="en-US" sz="1100" dirty="0"/>
          </a:p>
        </p:txBody>
      </p:sp>
      <p:sp>
        <p:nvSpPr>
          <p:cNvPr id="58" name="Shape 53"/>
          <p:cNvSpPr/>
          <p:nvPr/>
        </p:nvSpPr>
        <p:spPr>
          <a:xfrm>
            <a:off x="2863901" y="1735531"/>
            <a:ext cx="75895" cy="75895"/>
          </a:xfrm>
          <a:prstGeom prst="ellipse">
            <a:avLst/>
          </a:prstGeom>
          <a:solidFill>
            <a:srgbClr val="096DD9"/>
          </a:solidFill>
          <a:ln/>
        </p:spPr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4762195" y="1709928"/>
            <a:ext cx="219456" cy="171907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5057546" y="1666951"/>
            <a:ext cx="16724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DESeq2 デザイン式</a:t>
            </a:r>
            <a:endParaRPr lang="en-US" sz="1300" dirty="0"/>
          </a:p>
        </p:txBody>
      </p:sp>
      <p:sp>
        <p:nvSpPr>
          <p:cNvPr id="61" name="Shape 55"/>
          <p:cNvSpPr/>
          <p:nvPr/>
        </p:nvSpPr>
        <p:spPr>
          <a:xfrm>
            <a:off x="4762195" y="4238244"/>
            <a:ext cx="7048195" cy="1714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2" name="Shape 56"/>
          <p:cNvSpPr/>
          <p:nvPr/>
        </p:nvSpPr>
        <p:spPr>
          <a:xfrm>
            <a:off x="4762195" y="4238244"/>
            <a:ext cx="38405" cy="17145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90795" y="4466844"/>
            <a:ext cx="152705" cy="152705"/>
          </a:xfrm>
          <a:prstGeom prst="rect">
            <a:avLst/>
          </a:prstGeom>
        </p:spPr>
      </p:pic>
      <p:sp>
        <p:nvSpPr>
          <p:cNvPr id="64" name="Text 57"/>
          <p:cNvSpPr txBox="1"/>
          <p:nvPr/>
        </p:nvSpPr>
        <p:spPr>
          <a:xfrm>
            <a:off x="5219395" y="4429354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この式で何がわかる？（解析の問い）</a:t>
            </a:r>
            <a:endParaRPr lang="en-US" sz="1200" dirty="0"/>
          </a:p>
        </p:txBody>
      </p:sp>
      <p:sp>
        <p:nvSpPr>
          <p:cNvPr id="65" name="Shape 58"/>
          <p:cNvSpPr/>
          <p:nvPr/>
        </p:nvSpPr>
        <p:spPr>
          <a:xfrm>
            <a:off x="4990795" y="477225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EE2E2"/>
          </a:solidFill>
          <a:ln/>
        </p:spPr>
      </p:sp>
      <p:sp>
        <p:nvSpPr>
          <p:cNvPr id="66" name="Text 59"/>
          <p:cNvSpPr txBox="1"/>
          <p:nvPr/>
        </p:nvSpPr>
        <p:spPr>
          <a:xfrm>
            <a:off x="5065776" y="4848149"/>
            <a:ext cx="247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Q1</a:t>
            </a:r>
            <a:endParaRPr lang="en-US" sz="900" dirty="0"/>
          </a:p>
        </p:txBody>
      </p:sp>
      <p:sp>
        <p:nvSpPr>
          <p:cNvPr id="67" name="Shape 60"/>
          <p:cNvSpPr/>
          <p:nvPr/>
        </p:nvSpPr>
        <p:spPr>
          <a:xfrm>
            <a:off x="4990795" y="5191049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DE9FE"/>
          </a:solidFill>
          <a:ln/>
        </p:spPr>
      </p:sp>
      <p:sp>
        <p:nvSpPr>
          <p:cNvPr id="68" name="Text 61"/>
          <p:cNvSpPr txBox="1"/>
          <p:nvPr/>
        </p:nvSpPr>
        <p:spPr>
          <a:xfrm>
            <a:off x="5065776" y="5266944"/>
            <a:ext cx="247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Q2</a:t>
            </a:r>
            <a:endParaRPr lang="en-US" sz="900" dirty="0"/>
          </a:p>
        </p:txBody>
      </p:sp>
      <p:sp>
        <p:nvSpPr>
          <p:cNvPr id="69" name="Text 62"/>
          <p:cNvSpPr txBox="1"/>
          <p:nvPr/>
        </p:nvSpPr>
        <p:spPr>
          <a:xfrm>
            <a:off x="5410505" y="4817059"/>
            <a:ext cx="42601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単純な性差：「組織に関係なく、オスとメスで違う遺伝子は？」</a:t>
            </a:r>
            <a:endParaRPr lang="en-US" sz="1100" dirty="0"/>
          </a:p>
        </p:txBody>
      </p:sp>
      <p:sp>
        <p:nvSpPr>
          <p:cNvPr id="70" name="Text 63"/>
          <p:cNvSpPr txBox="1"/>
          <p:nvPr/>
        </p:nvSpPr>
        <p:spPr>
          <a:xfrm>
            <a:off x="5410505" y="5236769"/>
            <a:ext cx="49651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組織特異的な性差：「翼ではオスが高いが、尾では変わらない遺伝子は？」</a:t>
            </a:r>
            <a:endParaRPr lang="en-US" sz="1100" dirty="0"/>
          </a:p>
        </p:txBody>
      </p:sp>
      <p:sp>
        <p:nvSpPr>
          <p:cNvPr id="71" name="Text 64"/>
          <p:cNvSpPr txBox="1"/>
          <p:nvPr/>
        </p:nvSpPr>
        <p:spPr>
          <a:xfrm>
            <a:off x="5410505" y="5600700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これを検出するために</a:t>
            </a:r>
            <a:endParaRPr lang="en-US" sz="900" dirty="0"/>
          </a:p>
        </p:txBody>
      </p:sp>
      <p:sp>
        <p:nvSpPr>
          <p:cNvPr id="72" name="Text 65"/>
          <p:cNvSpPr txBox="1"/>
          <p:nvPr/>
        </p:nvSpPr>
        <p:spPr>
          <a:xfrm>
            <a:off x="6693408" y="5600700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交互作用項 (Sex:Tissue)</a:t>
            </a:r>
            <a:endParaRPr lang="en-US" sz="900" dirty="0"/>
          </a:p>
        </p:txBody>
      </p:sp>
      <p:sp>
        <p:nvSpPr>
          <p:cNvPr id="73" name="Text 66"/>
          <p:cNvSpPr txBox="1"/>
          <p:nvPr/>
        </p:nvSpPr>
        <p:spPr>
          <a:xfrm>
            <a:off x="7972654" y="5600700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が必要！</a:t>
            </a:r>
            <a:endParaRPr lang="en-US" sz="900" dirty="0"/>
          </a:p>
        </p:txBody>
      </p:sp>
      <p:sp>
        <p:nvSpPr>
          <p:cNvPr id="74" name="Shape 67"/>
          <p:cNvSpPr/>
          <p:nvPr/>
        </p:nvSpPr>
        <p:spPr>
          <a:xfrm>
            <a:off x="4762195" y="2066544"/>
            <a:ext cx="7048195" cy="1886407"/>
          </a:xfrm>
          <a:prstGeom prst="roundRect">
            <a:avLst>
              <a:gd name="adj" fmla="val 2938"/>
            </a:avLst>
          </a:prstGeom>
          <a:solidFill>
            <a:srgbClr val="F8FAFC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75" name="Text 68"/>
          <p:cNvSpPr txBox="1"/>
          <p:nvPr/>
        </p:nvSpPr>
        <p:spPr>
          <a:xfrm>
            <a:off x="5253228" y="2476195"/>
            <a:ext cx="18105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= ~</a:t>
            </a:r>
            <a:endParaRPr lang="en-US" sz="2100" dirty="0"/>
          </a:p>
        </p:txBody>
      </p:sp>
      <p:sp>
        <p:nvSpPr>
          <p:cNvPr id="76" name="Shape 69"/>
          <p:cNvSpPr/>
          <p:nvPr/>
        </p:nvSpPr>
        <p:spPr>
          <a:xfrm>
            <a:off x="6949440" y="2371954"/>
            <a:ext cx="694944" cy="514807"/>
          </a:xfrm>
          <a:prstGeom prst="roundRect">
            <a:avLst>
              <a:gd name="adj" fmla="val 19736"/>
            </a:avLst>
          </a:prstGeom>
          <a:solidFill>
            <a:srgbClr val="FFF1F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Text 70"/>
          <p:cNvSpPr txBox="1"/>
          <p:nvPr/>
        </p:nvSpPr>
        <p:spPr>
          <a:xfrm>
            <a:off x="7053682" y="2476195"/>
            <a:ext cx="6858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4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</a:t>
            </a:r>
            <a:endParaRPr lang="en-US" sz="2100" dirty="0"/>
          </a:p>
        </p:txBody>
      </p:sp>
      <p:sp>
        <p:nvSpPr>
          <p:cNvPr id="78" name="Shape 71"/>
          <p:cNvSpPr/>
          <p:nvPr/>
        </p:nvSpPr>
        <p:spPr>
          <a:xfrm>
            <a:off x="6436462" y="3019349"/>
            <a:ext cx="1714500" cy="761695"/>
          </a:xfrm>
          <a:prstGeom prst="roundRect">
            <a:avLst>
              <a:gd name="adj" fmla="val 90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79" name="Shape 72"/>
          <p:cNvSpPr/>
          <p:nvPr/>
        </p:nvSpPr>
        <p:spPr>
          <a:xfrm>
            <a:off x="7284110" y="2962656"/>
            <a:ext cx="95098" cy="950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3"/>
          <p:cNvSpPr txBox="1"/>
          <p:nvPr/>
        </p:nvSpPr>
        <p:spPr>
          <a:xfrm>
            <a:off x="6951269" y="3124505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性別の主効果</a:t>
            </a:r>
            <a:endParaRPr lang="en-US" sz="900" dirty="0"/>
          </a:p>
        </p:txBody>
      </p:sp>
      <p:sp>
        <p:nvSpPr>
          <p:cNvPr id="81" name="Text 74"/>
          <p:cNvSpPr txBox="1"/>
          <p:nvPr/>
        </p:nvSpPr>
        <p:spPr>
          <a:xfrm>
            <a:off x="6779362" y="3333902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オスとメス全体での</a:t>
            </a:r>
            <a:endParaRPr lang="en-US" sz="900" dirty="0"/>
          </a:p>
        </p:txBody>
      </p:sp>
      <p:sp>
        <p:nvSpPr>
          <p:cNvPr id="82" name="Text 75"/>
          <p:cNvSpPr txBox="1"/>
          <p:nvPr/>
        </p:nvSpPr>
        <p:spPr>
          <a:xfrm>
            <a:off x="7007962" y="3504895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発現量の差</a:t>
            </a:r>
            <a:endParaRPr lang="en-US" sz="900" dirty="0"/>
          </a:p>
        </p:txBody>
      </p:sp>
      <p:sp>
        <p:nvSpPr>
          <p:cNvPr id="83" name="Text 76"/>
          <p:cNvSpPr txBox="1"/>
          <p:nvPr/>
        </p:nvSpPr>
        <p:spPr>
          <a:xfrm>
            <a:off x="7733995" y="2476195"/>
            <a:ext cx="3621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100" dirty="0"/>
          </a:p>
        </p:txBody>
      </p:sp>
      <p:sp>
        <p:nvSpPr>
          <p:cNvPr id="84" name="Shape 77"/>
          <p:cNvSpPr/>
          <p:nvPr/>
        </p:nvSpPr>
        <p:spPr>
          <a:xfrm>
            <a:off x="7989113" y="2371954"/>
            <a:ext cx="1171346" cy="514807"/>
          </a:xfrm>
          <a:prstGeom prst="roundRect">
            <a:avLst>
              <a:gd name="adj" fmla="val 19736"/>
            </a:avLst>
          </a:prstGeom>
          <a:solidFill>
            <a:srgbClr val="E6F7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Text 78"/>
          <p:cNvSpPr txBox="1"/>
          <p:nvPr/>
        </p:nvSpPr>
        <p:spPr>
          <a:xfrm>
            <a:off x="8094269" y="2476195"/>
            <a:ext cx="11622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96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Tissue</a:t>
            </a:r>
            <a:endParaRPr lang="en-US" sz="2100" dirty="0"/>
          </a:p>
        </p:txBody>
      </p:sp>
      <p:sp>
        <p:nvSpPr>
          <p:cNvPr id="86" name="Shape 79"/>
          <p:cNvSpPr/>
          <p:nvPr/>
        </p:nvSpPr>
        <p:spPr>
          <a:xfrm>
            <a:off x="7717536" y="3019349"/>
            <a:ext cx="1714500" cy="761695"/>
          </a:xfrm>
          <a:prstGeom prst="roundRect">
            <a:avLst>
              <a:gd name="adj" fmla="val 90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87" name="Shape 80"/>
          <p:cNvSpPr/>
          <p:nvPr/>
        </p:nvSpPr>
        <p:spPr>
          <a:xfrm>
            <a:off x="8565185" y="2962656"/>
            <a:ext cx="95098" cy="950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1"/>
          <p:cNvSpPr txBox="1"/>
          <p:nvPr/>
        </p:nvSpPr>
        <p:spPr>
          <a:xfrm>
            <a:off x="8231429" y="3124505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組織の主効果</a:t>
            </a:r>
            <a:endParaRPr lang="en-US" sz="900" dirty="0"/>
          </a:p>
        </p:txBody>
      </p:sp>
      <p:sp>
        <p:nvSpPr>
          <p:cNvPr id="89" name="Text 82"/>
          <p:cNvSpPr txBox="1"/>
          <p:nvPr/>
        </p:nvSpPr>
        <p:spPr>
          <a:xfrm>
            <a:off x="8173822" y="3333902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翼と尾全体での</a:t>
            </a:r>
            <a:endParaRPr lang="en-US" sz="900" dirty="0"/>
          </a:p>
        </p:txBody>
      </p:sp>
      <p:sp>
        <p:nvSpPr>
          <p:cNvPr id="90" name="Text 83"/>
          <p:cNvSpPr txBox="1"/>
          <p:nvPr/>
        </p:nvSpPr>
        <p:spPr>
          <a:xfrm>
            <a:off x="8288122" y="3504895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発現量の差</a:t>
            </a:r>
            <a:endParaRPr lang="en-US" sz="900" dirty="0"/>
          </a:p>
        </p:txBody>
      </p:sp>
      <p:sp>
        <p:nvSpPr>
          <p:cNvPr id="91" name="Text 84"/>
          <p:cNvSpPr txBox="1"/>
          <p:nvPr/>
        </p:nvSpPr>
        <p:spPr>
          <a:xfrm>
            <a:off x="9254642" y="2476195"/>
            <a:ext cx="3621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100" dirty="0"/>
          </a:p>
        </p:txBody>
      </p:sp>
      <p:sp>
        <p:nvSpPr>
          <p:cNvPr id="92" name="Shape 85"/>
          <p:cNvSpPr/>
          <p:nvPr/>
        </p:nvSpPr>
        <p:spPr>
          <a:xfrm>
            <a:off x="9509760" y="2371954"/>
            <a:ext cx="1819656" cy="514807"/>
          </a:xfrm>
          <a:prstGeom prst="roundRect">
            <a:avLst>
              <a:gd name="adj" fmla="val 19736"/>
            </a:avLst>
          </a:prstGeom>
          <a:solidFill>
            <a:srgbClr val="F3E8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Text 86"/>
          <p:cNvSpPr txBox="1"/>
          <p:nvPr/>
        </p:nvSpPr>
        <p:spPr>
          <a:xfrm>
            <a:off x="9614916" y="2476195"/>
            <a:ext cx="18105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Sex:Tissue</a:t>
            </a:r>
            <a:endParaRPr lang="en-US" sz="2100" dirty="0"/>
          </a:p>
        </p:txBody>
      </p:sp>
      <p:sp>
        <p:nvSpPr>
          <p:cNvPr id="94" name="Shape 87"/>
          <p:cNvSpPr/>
          <p:nvPr/>
        </p:nvSpPr>
        <p:spPr>
          <a:xfrm>
            <a:off x="9558223" y="3019349"/>
            <a:ext cx="1714500" cy="761695"/>
          </a:xfrm>
          <a:prstGeom prst="roundRect">
            <a:avLst>
              <a:gd name="adj" fmla="val 90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95" name="Shape 88"/>
          <p:cNvSpPr/>
          <p:nvPr/>
        </p:nvSpPr>
        <p:spPr>
          <a:xfrm>
            <a:off x="10405872" y="2962656"/>
            <a:ext cx="95098" cy="950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89"/>
          <p:cNvSpPr txBox="1"/>
          <p:nvPr/>
        </p:nvSpPr>
        <p:spPr>
          <a:xfrm>
            <a:off x="10186416" y="3124505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交互作用</a:t>
            </a:r>
            <a:endParaRPr lang="en-US" sz="900" dirty="0"/>
          </a:p>
        </p:txBody>
      </p:sp>
      <p:sp>
        <p:nvSpPr>
          <p:cNvPr id="97" name="Text 90"/>
          <p:cNvSpPr txBox="1"/>
          <p:nvPr/>
        </p:nvSpPr>
        <p:spPr>
          <a:xfrm>
            <a:off x="9791395" y="3333902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「性差」が組織によって</a:t>
            </a:r>
            <a:endParaRPr lang="en-US" sz="900" dirty="0"/>
          </a:p>
        </p:txBody>
      </p:sp>
      <p:sp>
        <p:nvSpPr>
          <p:cNvPr id="98" name="Text 91"/>
          <p:cNvSpPr txBox="1"/>
          <p:nvPr/>
        </p:nvSpPr>
        <p:spPr>
          <a:xfrm>
            <a:off x="10014509" y="3504895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異なるかどうか</a:t>
            </a:r>
            <a:endParaRPr lang="en-US" sz="900" dirty="0"/>
          </a:p>
        </p:txBody>
      </p:sp>
      <p:sp>
        <p:nvSpPr>
          <p:cNvPr id="99" name="Shape 9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0" name="Shape 93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01" name="Image 5" descr="preencoded.png">    </p:cNvPr>
          <p:cNvPicPr>
            <a:picLocks noChangeAspect="1"/>
          </p:cNvPicPr>
          <p:nvPr/>
        </p:nvPicPr>
        <p:blipFill>
          <a:blip r:embed="rId6"/>
          <a:srcRect l="-775" r="-775" t="0" b="0"/>
          <a:stretch/>
        </p:blipFill>
        <p:spPr>
          <a:xfrm>
            <a:off x="381305" y="247802"/>
            <a:ext cx="314554" cy="247802"/>
          </a:xfrm>
          <a:prstGeom prst="rect">
            <a:avLst/>
          </a:prstGeom>
        </p:spPr>
      </p:pic>
      <p:sp>
        <p:nvSpPr>
          <p:cNvPr id="102" name="Text 94"/>
          <p:cNvSpPr txBox="1"/>
          <p:nvPr/>
        </p:nvSpPr>
        <p:spPr>
          <a:xfrm>
            <a:off x="838505" y="185623"/>
            <a:ext cx="485363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図4 デザイン式の考え方：因子と式の対応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761695"/>
            <a:ext cx="7162495" cy="6096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060497" y="1143000"/>
            <a:ext cx="3534156" cy="666598"/>
          </a:xfrm>
          <a:prstGeom prst="roundRect">
            <a:avLst>
              <a:gd name="adj" fmla="val 23516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317443" y="1352398"/>
            <a:ext cx="31912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log2(FC) = log2(Male / Female)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77" r="-77" t="0" b="0"/>
          <a:stretch/>
        </p:blipFill>
        <p:spPr>
          <a:xfrm>
            <a:off x="381305" y="1143000"/>
            <a:ext cx="6400800" cy="53336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15154" y="2286000"/>
            <a:ext cx="972007" cy="295351"/>
          </a:xfrm>
          <a:prstGeom prst="roundRect">
            <a:avLst>
              <a:gd name="adj" fmla="val 3994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01107" y="2333549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+1 = 2倍 (21)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31129" y="1371600"/>
            <a:ext cx="972007" cy="295351"/>
          </a:xfrm>
          <a:prstGeom prst="roundRect">
            <a:avLst>
              <a:gd name="adj" fmla="val 3994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16168" y="1419149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+2 = 4倍 (22)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73506" y="5038344"/>
            <a:ext cx="1123798" cy="295351"/>
          </a:xfrm>
          <a:prstGeom prst="roundRect">
            <a:avLst>
              <a:gd name="adj" fmla="val 3994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59459" y="5086807"/>
            <a:ext cx="1053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-1 = 1/2倍 (2-1)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57009" y="761695"/>
            <a:ext cx="5038344" cy="60963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7157009" y="761695"/>
            <a:ext cx="9144" cy="609630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547458" y="850392"/>
            <a:ext cx="1858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対数尺度のメリット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547458" y="1212494"/>
            <a:ext cx="43562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発現変動（増減）を対称的に扱えます。 「2倍」と「1/2倍」が、0を中心とした「+1」と「-1」になり、直感的に比較しやすくなります。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547458" y="2216506"/>
            <a:ext cx="4267505" cy="180959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547458" y="2216506"/>
            <a:ext cx="57607" cy="1809598"/>
          </a:xfrm>
          <a:prstGeom prst="rect">
            <a:avLst/>
          </a:prstGeom>
          <a:solidFill>
            <a:srgbClr val="D94B2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514" b="-514"/>
          <a:stretch/>
        </p:blipFill>
        <p:spPr>
          <a:xfrm>
            <a:off x="7833665" y="2486254"/>
            <a:ext cx="200254" cy="161849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109814" y="2445106"/>
            <a:ext cx="20647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オス特異的 (Male-biased)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833665" y="2802636"/>
            <a:ext cx="16605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RiosWingBMP1 (翼形成)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833665" y="3112618"/>
            <a:ext cx="3752698" cy="409651"/>
          </a:xfrm>
          <a:prstGeom prst="roundRect">
            <a:avLst>
              <a:gd name="adj" fmla="val 41528"/>
            </a:avLst>
          </a:prstGeom>
          <a:solidFill>
            <a:srgbClr val="F8FAFC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976311" y="3226918"/>
            <a:ext cx="13176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log2FC = +1.02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10780776" y="3226918"/>
            <a:ext cx="774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2.03倍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0116007" y="3593592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オスの方が発現量が多い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7547458" y="4307738"/>
            <a:ext cx="4267505" cy="180959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547458" y="4307738"/>
            <a:ext cx="57607" cy="1809598"/>
          </a:xfrm>
          <a:prstGeom prst="rect">
            <a:avLst/>
          </a:prstGeom>
          <a:solidFill>
            <a:srgbClr val="3E8E3E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514" b="-514"/>
          <a:stretch/>
        </p:blipFill>
        <p:spPr>
          <a:xfrm>
            <a:off x="7833665" y="4576572"/>
            <a:ext cx="200254" cy="161849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109814" y="4536338"/>
            <a:ext cx="226496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8E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メス特異的 (Female-biased)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7833665" y="4893869"/>
            <a:ext cx="13267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RiosToxinA1 (毒腺)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833665" y="5202936"/>
            <a:ext cx="3752698" cy="409651"/>
          </a:xfrm>
          <a:prstGeom prst="roundRect">
            <a:avLst>
              <a:gd name="adj" fmla="val 41528"/>
            </a:avLst>
          </a:prstGeom>
          <a:solidFill>
            <a:srgbClr val="F8FAFC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7976311" y="5317236"/>
            <a:ext cx="13176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log2FC = -1.00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10350094" y="5317236"/>
            <a:ext cx="12033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0.5倍 (1/2)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928202" y="5683910"/>
            <a:ext cx="2757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メスの方が発現量が多い (オスはメスの半分)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8968435" y="6398057"/>
            <a:ext cx="1429207" cy="371246"/>
          </a:xfrm>
          <a:prstGeom prst="roundRect">
            <a:avLst>
              <a:gd name="adj" fmla="val 2463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9130284" y="6484010"/>
            <a:ext cx="12051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 は変化なし (1倍)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9" name="Shape 34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1305" y="247802"/>
            <a:ext cx="247802" cy="247802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771754" y="185623"/>
            <a:ext cx="660562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図5 log2FCとfold changeの対応：対数尺度の直感的理解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2025-12-20T05:20:32Z</dcterms:created>
  <dcterms:modified xsi:type="dcterms:W3CDTF">2025-12-20T05:20:32Z</dcterms:modified>
</cp:coreProperties>
</file>